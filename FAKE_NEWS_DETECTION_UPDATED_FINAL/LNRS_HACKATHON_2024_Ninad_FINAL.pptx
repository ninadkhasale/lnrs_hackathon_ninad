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3460" r:id="rId2"/>
    <p:sldId id="3472" r:id="rId3"/>
    <p:sldId id="3474" r:id="rId4"/>
    <p:sldId id="3475" r:id="rId5"/>
    <p:sldId id="3476" r:id="rId6"/>
    <p:sldId id="3477" r:id="rId7"/>
    <p:sldId id="3479" r:id="rId8"/>
    <p:sldId id="3480" r:id="rId9"/>
    <p:sldId id="3481" r:id="rId10"/>
    <p:sldId id="3482" r:id="rId11"/>
    <p:sldId id="3483" r:id="rId12"/>
    <p:sldId id="3478" r:id="rId13"/>
    <p:sldId id="3471" r:id="rId14"/>
    <p:sldId id="342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327BFE-52A2-4837-A0D0-D821D840B30B}" v="276" dt="2024-09-26T07:41:41.0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2" d="100"/>
          <a:sy n="92" d="100"/>
        </p:scale>
        <p:origin x="859" y="8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701BE0A-C3CB-4716-AB96-AD8C1F9F55B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2E6BEB4-4BEF-49DC-AF2E-576834A909ED}">
      <dgm:prSet/>
      <dgm:spPr/>
      <dgm:t>
        <a:bodyPr/>
        <a:lstStyle/>
        <a:p>
          <a:pPr>
            <a:lnSpc>
              <a:spcPct val="100000"/>
            </a:lnSpc>
          </a:pPr>
          <a:r>
            <a:rPr lang="en-US" dirty="0"/>
            <a:t>Name: Ninad Khasale</a:t>
          </a:r>
        </a:p>
      </dgm:t>
    </dgm:pt>
    <dgm:pt modelId="{357DB2CD-539B-42D4-A1EA-F7F755C62596}" type="parTrans" cxnId="{ECF19628-18A4-4058-AD8A-AB72A5DE3A77}">
      <dgm:prSet/>
      <dgm:spPr/>
      <dgm:t>
        <a:bodyPr/>
        <a:lstStyle/>
        <a:p>
          <a:endParaRPr lang="en-US"/>
        </a:p>
      </dgm:t>
    </dgm:pt>
    <dgm:pt modelId="{515C62B7-3B09-44F1-BCEB-0C43ADFA8955}" type="sibTrans" cxnId="{ECF19628-18A4-4058-AD8A-AB72A5DE3A77}">
      <dgm:prSet/>
      <dgm:spPr/>
      <dgm:t>
        <a:bodyPr/>
        <a:lstStyle/>
        <a:p>
          <a:endParaRPr lang="en-US"/>
        </a:p>
      </dgm:t>
    </dgm:pt>
    <dgm:pt modelId="{4207FAC2-2E32-4F9E-B40A-63D1E4044598}">
      <dgm:prSet/>
      <dgm:spPr>
        <a:ln>
          <a:noFill/>
        </a:ln>
      </dgm:spPr>
      <dgm:t>
        <a:bodyPr/>
        <a:lstStyle/>
        <a:p>
          <a:r>
            <a:rPr lang="en-US" dirty="0"/>
            <a:t>Email Id:  ninad.khasale@gmail.com</a:t>
          </a:r>
          <a:endParaRPr lang="en-US" dirty="0">
            <a:solidFill>
              <a:schemeClr val="bg1"/>
            </a:solidFill>
          </a:endParaRPr>
        </a:p>
      </dgm:t>
    </dgm:pt>
    <dgm:pt modelId="{3913EA2D-B2E0-415B-B448-73D668962711}" type="parTrans" cxnId="{9F4A4DB6-0A11-4462-B9D5-43EE55B7118D}">
      <dgm:prSet/>
      <dgm:spPr/>
      <dgm:t>
        <a:bodyPr/>
        <a:lstStyle/>
        <a:p>
          <a:endParaRPr lang="en-US"/>
        </a:p>
      </dgm:t>
    </dgm:pt>
    <dgm:pt modelId="{3754FF19-1C0A-42A9-9791-5802D4CD96FF}" type="sibTrans" cxnId="{9F4A4DB6-0A11-4462-B9D5-43EE55B7118D}">
      <dgm:prSet/>
      <dgm:spPr/>
      <dgm:t>
        <a:bodyPr/>
        <a:lstStyle/>
        <a:p>
          <a:endParaRPr lang="en-US"/>
        </a:p>
      </dgm:t>
    </dgm:pt>
    <dgm:pt modelId="{B687A22B-84BE-49B5-9865-E8353FF4D2CF}">
      <dgm:prSet/>
      <dgm:spPr/>
      <dgm:t>
        <a:bodyPr/>
        <a:lstStyle/>
        <a:p>
          <a:pPr>
            <a:lnSpc>
              <a:spcPct val="100000"/>
            </a:lnSpc>
          </a:pPr>
          <a:r>
            <a:rPr lang="en-US" dirty="0"/>
            <a:t>Contact No: 6353920303</a:t>
          </a:r>
        </a:p>
      </dgm:t>
    </dgm:pt>
    <dgm:pt modelId="{9348E2D9-C322-43B6-81BB-68456AE3E2A3}" type="parTrans" cxnId="{3D0B2F77-5F50-400F-BD0A-3E7F40D83B87}">
      <dgm:prSet/>
      <dgm:spPr/>
      <dgm:t>
        <a:bodyPr/>
        <a:lstStyle/>
        <a:p>
          <a:endParaRPr lang="en-US"/>
        </a:p>
      </dgm:t>
    </dgm:pt>
    <dgm:pt modelId="{9B2FF502-C14D-4F8B-B710-D200173C549F}" type="sibTrans" cxnId="{3D0B2F77-5F50-400F-BD0A-3E7F40D83B87}">
      <dgm:prSet/>
      <dgm:spPr/>
      <dgm:t>
        <a:bodyPr/>
        <a:lstStyle/>
        <a:p>
          <a:endParaRPr lang="en-US"/>
        </a:p>
      </dgm:t>
    </dgm:pt>
    <dgm:pt modelId="{82B71270-F96E-4BD0-803C-1116EDBC2C8C}">
      <dgm:prSet/>
      <dgm:spPr/>
      <dgm:t>
        <a:bodyPr/>
        <a:lstStyle/>
        <a:p>
          <a:r>
            <a:rPr lang="en-US" dirty="0" err="1"/>
            <a:t>Github</a:t>
          </a:r>
          <a:r>
            <a:rPr lang="en-US" dirty="0"/>
            <a:t> Account:  </a:t>
          </a:r>
          <a:r>
            <a:rPr lang="en-IN" dirty="0"/>
            <a:t>https://github.com/ninadkhasale</a:t>
          </a:r>
          <a:endParaRPr lang="en-US" dirty="0">
            <a:solidFill>
              <a:schemeClr val="bg1"/>
            </a:solidFill>
          </a:endParaRPr>
        </a:p>
      </dgm:t>
    </dgm:pt>
    <dgm:pt modelId="{455DB0CC-B2DA-4EFB-8461-96A74F9DE10E}" type="parTrans" cxnId="{FD2270BE-F61B-4244-9703-C1BB2894C534}">
      <dgm:prSet/>
      <dgm:spPr/>
      <dgm:t>
        <a:bodyPr/>
        <a:lstStyle/>
        <a:p>
          <a:endParaRPr lang="en-US"/>
        </a:p>
      </dgm:t>
    </dgm:pt>
    <dgm:pt modelId="{30023E9E-BF30-4883-909E-DFE4B197EF91}" type="sibTrans" cxnId="{FD2270BE-F61B-4244-9703-C1BB2894C534}">
      <dgm:prSet/>
      <dgm:spPr/>
      <dgm:t>
        <a:bodyPr/>
        <a:lstStyle/>
        <a:p>
          <a:endParaRPr lang="en-US"/>
        </a:p>
      </dgm:t>
    </dgm:pt>
    <dgm:pt modelId="{EC97B3A0-9996-4752-82B1-1045AB1F2E0C}">
      <dgm:prSet/>
      <dgm:spPr/>
      <dgm:t>
        <a:bodyPr/>
        <a:lstStyle/>
        <a:p>
          <a:pPr>
            <a:lnSpc>
              <a:spcPct val="100000"/>
            </a:lnSpc>
          </a:pPr>
          <a:r>
            <a:rPr lang="en-US" dirty="0"/>
            <a:t>Topic: </a:t>
          </a:r>
          <a:r>
            <a:rPr lang="en-IN" dirty="0"/>
            <a:t>Fake news detection</a:t>
          </a:r>
          <a:endParaRPr lang="en-US" dirty="0"/>
        </a:p>
      </dgm:t>
    </dgm:pt>
    <dgm:pt modelId="{1D9E5FAC-FEA2-44C0-8176-393EA90D0E33}" type="parTrans" cxnId="{423C436D-B48E-4C16-8480-76CCCBD7CA93}">
      <dgm:prSet/>
      <dgm:spPr/>
      <dgm:t>
        <a:bodyPr/>
        <a:lstStyle/>
        <a:p>
          <a:endParaRPr lang="en-US"/>
        </a:p>
      </dgm:t>
    </dgm:pt>
    <dgm:pt modelId="{D53C431E-9C32-484F-8984-F11D48054752}" type="sibTrans" cxnId="{423C436D-B48E-4C16-8480-76CCCBD7CA93}">
      <dgm:prSet/>
      <dgm:spPr/>
      <dgm:t>
        <a:bodyPr/>
        <a:lstStyle/>
        <a:p>
          <a:endParaRPr lang="en-US"/>
        </a:p>
      </dgm:t>
    </dgm:pt>
    <dgm:pt modelId="{BB4288F1-EFC7-474E-B0DC-C64AED05A3D0}">
      <dgm:prSet/>
      <dgm:spPr/>
      <dgm:t>
        <a:bodyPr/>
        <a:lstStyle/>
        <a:p>
          <a:pPr>
            <a:lnSpc>
              <a:spcPct val="100000"/>
            </a:lnSpc>
          </a:pPr>
          <a:r>
            <a:rPr lang="en-US" dirty="0"/>
            <a:t>College:  MPSTME</a:t>
          </a:r>
        </a:p>
      </dgm:t>
    </dgm:pt>
    <dgm:pt modelId="{D574F96D-9F88-4CEF-84D5-B3352336067A}" type="parTrans" cxnId="{9A1B800F-DF58-439C-9461-AEBFB74FE08D}">
      <dgm:prSet/>
      <dgm:spPr/>
      <dgm:t>
        <a:bodyPr/>
        <a:lstStyle/>
        <a:p>
          <a:endParaRPr lang="en-IN"/>
        </a:p>
      </dgm:t>
    </dgm:pt>
    <dgm:pt modelId="{BF7C9B31-F66F-4FD4-87FB-5B08D119DB85}" type="sibTrans" cxnId="{9A1B800F-DF58-439C-9461-AEBFB74FE08D}">
      <dgm:prSet/>
      <dgm:spPr/>
      <dgm:t>
        <a:bodyPr/>
        <a:lstStyle/>
        <a:p>
          <a:endParaRPr lang="en-IN"/>
        </a:p>
      </dgm:t>
    </dgm:pt>
    <dgm:pt modelId="{7B08EFD8-3894-4459-A032-B4B561DE8A09}">
      <dgm:prSet/>
      <dgm:spPr/>
      <dgm:t>
        <a:bodyPr/>
        <a:lstStyle/>
        <a:p>
          <a:pPr>
            <a:lnSpc>
              <a:spcPct val="100000"/>
            </a:lnSpc>
          </a:pPr>
          <a:r>
            <a:rPr lang="en-US" dirty="0"/>
            <a:t>Student Id: 70092100098</a:t>
          </a:r>
        </a:p>
      </dgm:t>
    </dgm:pt>
    <dgm:pt modelId="{DB10B87E-6412-4151-8CF3-3DDE49F34148}" type="parTrans" cxnId="{786CAD39-0719-4C7C-BFE9-5F6403271E23}">
      <dgm:prSet/>
      <dgm:spPr/>
      <dgm:t>
        <a:bodyPr/>
        <a:lstStyle/>
        <a:p>
          <a:endParaRPr lang="en-IN"/>
        </a:p>
      </dgm:t>
    </dgm:pt>
    <dgm:pt modelId="{0CFBEAF6-C440-4222-AED6-2A0A7BA1DA49}" type="sibTrans" cxnId="{786CAD39-0719-4C7C-BFE9-5F6403271E23}">
      <dgm:prSet/>
      <dgm:spPr/>
      <dgm:t>
        <a:bodyPr/>
        <a:lstStyle/>
        <a:p>
          <a:endParaRPr lang="en-IN"/>
        </a:p>
      </dgm:t>
    </dgm:pt>
    <dgm:pt modelId="{B0ED103D-1E70-4793-922B-A692B243DD9A}">
      <dgm:prSet/>
      <dgm:spPr/>
      <dgm:t>
        <a:bodyPr/>
        <a:lstStyle/>
        <a:p>
          <a:r>
            <a:rPr lang="en-US" dirty="0">
              <a:solidFill>
                <a:schemeClr val="bg1"/>
              </a:solidFill>
            </a:rPr>
            <a:t>Repo Link:  </a:t>
          </a:r>
          <a:r>
            <a:rPr lang="en-IN" dirty="0">
              <a:solidFill>
                <a:schemeClr val="bg1"/>
              </a:solidFill>
            </a:rPr>
            <a:t>https://github.com/ninadkhasale/LNRS_HACKATHON_Ninad</a:t>
          </a:r>
          <a:endParaRPr lang="en-US" dirty="0">
            <a:solidFill>
              <a:schemeClr val="bg1"/>
            </a:solidFill>
          </a:endParaRPr>
        </a:p>
      </dgm:t>
    </dgm:pt>
    <dgm:pt modelId="{5A959732-5788-413C-9D96-A02CF61F7E8B}" type="parTrans" cxnId="{CC0934A4-BB77-4042-866C-E9698302993E}">
      <dgm:prSet/>
      <dgm:spPr/>
      <dgm:t>
        <a:bodyPr/>
        <a:lstStyle/>
        <a:p>
          <a:endParaRPr lang="en-IN"/>
        </a:p>
      </dgm:t>
    </dgm:pt>
    <dgm:pt modelId="{32B6F8AA-89F8-4ECC-A7CE-A792834B7BDD}" type="sibTrans" cxnId="{CC0934A4-BB77-4042-866C-E9698302993E}">
      <dgm:prSet/>
      <dgm:spPr/>
      <dgm:t>
        <a:bodyPr/>
        <a:lstStyle/>
        <a:p>
          <a:endParaRPr lang="en-IN"/>
        </a:p>
      </dgm:t>
    </dgm:pt>
    <dgm:pt modelId="{63A72396-9862-4149-AF86-30AA35A44052}" type="pres">
      <dgm:prSet presAssocID="{7701BE0A-C3CB-4716-AB96-AD8C1F9F55B4}" presName="linear" presStyleCnt="0">
        <dgm:presLayoutVars>
          <dgm:animLvl val="lvl"/>
          <dgm:resizeHandles val="exact"/>
        </dgm:presLayoutVars>
      </dgm:prSet>
      <dgm:spPr/>
    </dgm:pt>
    <dgm:pt modelId="{5548ED75-76B2-406B-B75B-A15C4171C0B3}" type="pres">
      <dgm:prSet presAssocID="{B2E6BEB4-4BEF-49DC-AF2E-576834A909ED}" presName="parentText" presStyleLbl="node1" presStyleIdx="0" presStyleCnt="8">
        <dgm:presLayoutVars>
          <dgm:chMax val="0"/>
          <dgm:bulletEnabled val="1"/>
        </dgm:presLayoutVars>
      </dgm:prSet>
      <dgm:spPr/>
    </dgm:pt>
    <dgm:pt modelId="{4DAA64AD-CCE3-4A41-844B-7413F7106FA7}" type="pres">
      <dgm:prSet presAssocID="{515C62B7-3B09-44F1-BCEB-0C43ADFA8955}" presName="spacer" presStyleCnt="0"/>
      <dgm:spPr/>
    </dgm:pt>
    <dgm:pt modelId="{994E0F4C-DABB-4ABE-952F-3C71A3DA4759}" type="pres">
      <dgm:prSet presAssocID="{4207FAC2-2E32-4F9E-B40A-63D1E4044598}" presName="parentText" presStyleLbl="node1" presStyleIdx="1" presStyleCnt="8">
        <dgm:presLayoutVars>
          <dgm:chMax val="0"/>
          <dgm:bulletEnabled val="1"/>
        </dgm:presLayoutVars>
      </dgm:prSet>
      <dgm:spPr/>
    </dgm:pt>
    <dgm:pt modelId="{6BB71D20-C060-4CEC-8EC6-C2FBD1E23510}" type="pres">
      <dgm:prSet presAssocID="{3754FF19-1C0A-42A9-9791-5802D4CD96FF}" presName="spacer" presStyleCnt="0"/>
      <dgm:spPr/>
    </dgm:pt>
    <dgm:pt modelId="{EE296C0C-54D6-417E-9124-B37C69D53C88}" type="pres">
      <dgm:prSet presAssocID="{B687A22B-84BE-49B5-9865-E8353FF4D2CF}" presName="parentText" presStyleLbl="node1" presStyleIdx="2" presStyleCnt="8">
        <dgm:presLayoutVars>
          <dgm:chMax val="0"/>
          <dgm:bulletEnabled val="1"/>
        </dgm:presLayoutVars>
      </dgm:prSet>
      <dgm:spPr/>
    </dgm:pt>
    <dgm:pt modelId="{ED60F8D6-DE74-452D-B177-06DFCDBED345}" type="pres">
      <dgm:prSet presAssocID="{9B2FF502-C14D-4F8B-B710-D200173C549F}" presName="spacer" presStyleCnt="0"/>
      <dgm:spPr/>
    </dgm:pt>
    <dgm:pt modelId="{3C993390-B9E1-4D81-85EE-BDE307F07A98}" type="pres">
      <dgm:prSet presAssocID="{82B71270-F96E-4BD0-803C-1116EDBC2C8C}" presName="parentText" presStyleLbl="node1" presStyleIdx="3" presStyleCnt="8">
        <dgm:presLayoutVars>
          <dgm:chMax val="0"/>
          <dgm:bulletEnabled val="1"/>
        </dgm:presLayoutVars>
      </dgm:prSet>
      <dgm:spPr/>
    </dgm:pt>
    <dgm:pt modelId="{21EEBEDC-69FA-407C-9A17-687799BB55A3}" type="pres">
      <dgm:prSet presAssocID="{30023E9E-BF30-4883-909E-DFE4B197EF91}" presName="spacer" presStyleCnt="0"/>
      <dgm:spPr/>
    </dgm:pt>
    <dgm:pt modelId="{E1AC9829-54E4-43EB-8A30-0D3A2D166B54}" type="pres">
      <dgm:prSet presAssocID="{B0ED103D-1E70-4793-922B-A692B243DD9A}" presName="parentText" presStyleLbl="node1" presStyleIdx="4" presStyleCnt="8" custLinFactNeighborX="-2763" custLinFactNeighborY="-34346">
        <dgm:presLayoutVars>
          <dgm:chMax val="0"/>
          <dgm:bulletEnabled val="1"/>
        </dgm:presLayoutVars>
      </dgm:prSet>
      <dgm:spPr/>
    </dgm:pt>
    <dgm:pt modelId="{6ED76C39-D56B-4EDB-92CE-ED32704F63DA}" type="pres">
      <dgm:prSet presAssocID="{32B6F8AA-89F8-4ECC-A7CE-A792834B7BDD}" presName="spacer" presStyleCnt="0"/>
      <dgm:spPr/>
    </dgm:pt>
    <dgm:pt modelId="{5B80FC30-75D7-4AAE-BB72-E19D2B89C2FD}" type="pres">
      <dgm:prSet presAssocID="{EC97B3A0-9996-4752-82B1-1045AB1F2E0C}" presName="parentText" presStyleLbl="node1" presStyleIdx="5" presStyleCnt="8">
        <dgm:presLayoutVars>
          <dgm:chMax val="0"/>
          <dgm:bulletEnabled val="1"/>
        </dgm:presLayoutVars>
      </dgm:prSet>
      <dgm:spPr/>
    </dgm:pt>
    <dgm:pt modelId="{BA3889CF-CAF0-4A40-BE9B-FBF4EA0EDFA5}" type="pres">
      <dgm:prSet presAssocID="{D53C431E-9C32-484F-8984-F11D48054752}" presName="spacer" presStyleCnt="0"/>
      <dgm:spPr/>
    </dgm:pt>
    <dgm:pt modelId="{464F68E7-DA77-4225-99DA-7802E77E85CE}" type="pres">
      <dgm:prSet presAssocID="{BB4288F1-EFC7-474E-B0DC-C64AED05A3D0}" presName="parentText" presStyleLbl="node1" presStyleIdx="6" presStyleCnt="8">
        <dgm:presLayoutVars>
          <dgm:chMax val="0"/>
          <dgm:bulletEnabled val="1"/>
        </dgm:presLayoutVars>
      </dgm:prSet>
      <dgm:spPr/>
    </dgm:pt>
    <dgm:pt modelId="{0E4E6473-EF89-4B6F-BCAE-EAB3739D6642}" type="pres">
      <dgm:prSet presAssocID="{BF7C9B31-F66F-4FD4-87FB-5B08D119DB85}" presName="spacer" presStyleCnt="0"/>
      <dgm:spPr/>
    </dgm:pt>
    <dgm:pt modelId="{76EA5A5E-C35C-4C25-9F7C-92793F4D89C3}" type="pres">
      <dgm:prSet presAssocID="{7B08EFD8-3894-4459-A032-B4B561DE8A09}" presName="parentText" presStyleLbl="node1" presStyleIdx="7" presStyleCnt="8">
        <dgm:presLayoutVars>
          <dgm:chMax val="0"/>
          <dgm:bulletEnabled val="1"/>
        </dgm:presLayoutVars>
      </dgm:prSet>
      <dgm:spPr/>
    </dgm:pt>
  </dgm:ptLst>
  <dgm:cxnLst>
    <dgm:cxn modelId="{9A1B800F-DF58-439C-9461-AEBFB74FE08D}" srcId="{7701BE0A-C3CB-4716-AB96-AD8C1F9F55B4}" destId="{BB4288F1-EFC7-474E-B0DC-C64AED05A3D0}" srcOrd="6" destOrd="0" parTransId="{D574F96D-9F88-4CEF-84D5-B3352336067A}" sibTransId="{BF7C9B31-F66F-4FD4-87FB-5B08D119DB85}"/>
    <dgm:cxn modelId="{ECF19628-18A4-4058-AD8A-AB72A5DE3A77}" srcId="{7701BE0A-C3CB-4716-AB96-AD8C1F9F55B4}" destId="{B2E6BEB4-4BEF-49DC-AF2E-576834A909ED}" srcOrd="0" destOrd="0" parTransId="{357DB2CD-539B-42D4-A1EA-F7F755C62596}" sibTransId="{515C62B7-3B09-44F1-BCEB-0C43ADFA8955}"/>
    <dgm:cxn modelId="{786CAD39-0719-4C7C-BFE9-5F6403271E23}" srcId="{7701BE0A-C3CB-4716-AB96-AD8C1F9F55B4}" destId="{7B08EFD8-3894-4459-A032-B4B561DE8A09}" srcOrd="7" destOrd="0" parTransId="{DB10B87E-6412-4151-8CF3-3DDE49F34148}" sibTransId="{0CFBEAF6-C440-4222-AED6-2A0A7BA1DA49}"/>
    <dgm:cxn modelId="{423C436D-B48E-4C16-8480-76CCCBD7CA93}" srcId="{7701BE0A-C3CB-4716-AB96-AD8C1F9F55B4}" destId="{EC97B3A0-9996-4752-82B1-1045AB1F2E0C}" srcOrd="5" destOrd="0" parTransId="{1D9E5FAC-FEA2-44C0-8176-393EA90D0E33}" sibTransId="{D53C431E-9C32-484F-8984-F11D48054752}"/>
    <dgm:cxn modelId="{360FE26E-AA8B-4B94-BA57-AFFEF0D6B514}" type="presOf" srcId="{7B08EFD8-3894-4459-A032-B4B561DE8A09}" destId="{76EA5A5E-C35C-4C25-9F7C-92793F4D89C3}" srcOrd="0" destOrd="0" presId="urn:microsoft.com/office/officeart/2005/8/layout/vList2"/>
    <dgm:cxn modelId="{3D0B2F77-5F50-400F-BD0A-3E7F40D83B87}" srcId="{7701BE0A-C3CB-4716-AB96-AD8C1F9F55B4}" destId="{B687A22B-84BE-49B5-9865-E8353FF4D2CF}" srcOrd="2" destOrd="0" parTransId="{9348E2D9-C322-43B6-81BB-68456AE3E2A3}" sibTransId="{9B2FF502-C14D-4F8B-B710-D200173C549F}"/>
    <dgm:cxn modelId="{8720107A-0F46-4D88-8292-D315C2F9B9D1}" type="presOf" srcId="{EC97B3A0-9996-4752-82B1-1045AB1F2E0C}" destId="{5B80FC30-75D7-4AAE-BB72-E19D2B89C2FD}" srcOrd="0" destOrd="0" presId="urn:microsoft.com/office/officeart/2005/8/layout/vList2"/>
    <dgm:cxn modelId="{CFBEB97D-B3C0-4A8C-874E-B264CC292E0E}" type="presOf" srcId="{4207FAC2-2E32-4F9E-B40A-63D1E4044598}" destId="{994E0F4C-DABB-4ABE-952F-3C71A3DA4759}" srcOrd="0" destOrd="0" presId="urn:microsoft.com/office/officeart/2005/8/layout/vList2"/>
    <dgm:cxn modelId="{CC0934A4-BB77-4042-866C-E9698302993E}" srcId="{7701BE0A-C3CB-4716-AB96-AD8C1F9F55B4}" destId="{B0ED103D-1E70-4793-922B-A692B243DD9A}" srcOrd="4" destOrd="0" parTransId="{5A959732-5788-413C-9D96-A02CF61F7E8B}" sibTransId="{32B6F8AA-89F8-4ECC-A7CE-A792834B7BDD}"/>
    <dgm:cxn modelId="{5B2D14AA-07F2-4EA7-BCA0-F433EE8F2131}" type="presOf" srcId="{7701BE0A-C3CB-4716-AB96-AD8C1F9F55B4}" destId="{63A72396-9862-4149-AF86-30AA35A44052}" srcOrd="0" destOrd="0" presId="urn:microsoft.com/office/officeart/2005/8/layout/vList2"/>
    <dgm:cxn modelId="{AF4434AB-075C-43DA-BDF0-25B95CDBEE3F}" type="presOf" srcId="{B687A22B-84BE-49B5-9865-E8353FF4D2CF}" destId="{EE296C0C-54D6-417E-9124-B37C69D53C88}" srcOrd="0" destOrd="0" presId="urn:microsoft.com/office/officeart/2005/8/layout/vList2"/>
    <dgm:cxn modelId="{9F4A4DB6-0A11-4462-B9D5-43EE55B7118D}" srcId="{7701BE0A-C3CB-4716-AB96-AD8C1F9F55B4}" destId="{4207FAC2-2E32-4F9E-B40A-63D1E4044598}" srcOrd="1" destOrd="0" parTransId="{3913EA2D-B2E0-415B-B448-73D668962711}" sibTransId="{3754FF19-1C0A-42A9-9791-5802D4CD96FF}"/>
    <dgm:cxn modelId="{FD2270BE-F61B-4244-9703-C1BB2894C534}" srcId="{7701BE0A-C3CB-4716-AB96-AD8C1F9F55B4}" destId="{82B71270-F96E-4BD0-803C-1116EDBC2C8C}" srcOrd="3" destOrd="0" parTransId="{455DB0CC-B2DA-4EFB-8461-96A74F9DE10E}" sibTransId="{30023E9E-BF30-4883-909E-DFE4B197EF91}"/>
    <dgm:cxn modelId="{DA0832D9-AFCE-40FB-B474-D19E33CA08E3}" type="presOf" srcId="{B0ED103D-1E70-4793-922B-A692B243DD9A}" destId="{E1AC9829-54E4-43EB-8A30-0D3A2D166B54}" srcOrd="0" destOrd="0" presId="urn:microsoft.com/office/officeart/2005/8/layout/vList2"/>
    <dgm:cxn modelId="{9BFACBDE-DE7B-4DBD-B543-315B38EAAF7A}" type="presOf" srcId="{BB4288F1-EFC7-474E-B0DC-C64AED05A3D0}" destId="{464F68E7-DA77-4225-99DA-7802E77E85CE}" srcOrd="0" destOrd="0" presId="urn:microsoft.com/office/officeart/2005/8/layout/vList2"/>
    <dgm:cxn modelId="{AF7FA6EC-6442-4532-98A7-2C9715DD357B}" type="presOf" srcId="{B2E6BEB4-4BEF-49DC-AF2E-576834A909ED}" destId="{5548ED75-76B2-406B-B75B-A15C4171C0B3}" srcOrd="0" destOrd="0" presId="urn:microsoft.com/office/officeart/2005/8/layout/vList2"/>
    <dgm:cxn modelId="{A96916F0-DABA-4467-9FFE-0651A860705B}" type="presOf" srcId="{82B71270-F96E-4BD0-803C-1116EDBC2C8C}" destId="{3C993390-B9E1-4D81-85EE-BDE307F07A98}" srcOrd="0" destOrd="0" presId="urn:microsoft.com/office/officeart/2005/8/layout/vList2"/>
    <dgm:cxn modelId="{94C3C6A1-FB74-4044-BCE8-A8A556703760}" type="presParOf" srcId="{63A72396-9862-4149-AF86-30AA35A44052}" destId="{5548ED75-76B2-406B-B75B-A15C4171C0B3}" srcOrd="0" destOrd="0" presId="urn:microsoft.com/office/officeart/2005/8/layout/vList2"/>
    <dgm:cxn modelId="{069407B6-E4C1-4112-99CC-B9AEA4660BCA}" type="presParOf" srcId="{63A72396-9862-4149-AF86-30AA35A44052}" destId="{4DAA64AD-CCE3-4A41-844B-7413F7106FA7}" srcOrd="1" destOrd="0" presId="urn:microsoft.com/office/officeart/2005/8/layout/vList2"/>
    <dgm:cxn modelId="{B3A2E71F-51DD-4B23-B011-2C12886129BF}" type="presParOf" srcId="{63A72396-9862-4149-AF86-30AA35A44052}" destId="{994E0F4C-DABB-4ABE-952F-3C71A3DA4759}" srcOrd="2" destOrd="0" presId="urn:microsoft.com/office/officeart/2005/8/layout/vList2"/>
    <dgm:cxn modelId="{C96A419A-DBF3-4729-88DE-F6DCD0585DDB}" type="presParOf" srcId="{63A72396-9862-4149-AF86-30AA35A44052}" destId="{6BB71D20-C060-4CEC-8EC6-C2FBD1E23510}" srcOrd="3" destOrd="0" presId="urn:microsoft.com/office/officeart/2005/8/layout/vList2"/>
    <dgm:cxn modelId="{5393F294-47A8-4433-ACFE-5A0DFBE0F18A}" type="presParOf" srcId="{63A72396-9862-4149-AF86-30AA35A44052}" destId="{EE296C0C-54D6-417E-9124-B37C69D53C88}" srcOrd="4" destOrd="0" presId="urn:microsoft.com/office/officeart/2005/8/layout/vList2"/>
    <dgm:cxn modelId="{F8FD0A93-0DBE-4F11-92E5-654E8D29A3F9}" type="presParOf" srcId="{63A72396-9862-4149-AF86-30AA35A44052}" destId="{ED60F8D6-DE74-452D-B177-06DFCDBED345}" srcOrd="5" destOrd="0" presId="urn:microsoft.com/office/officeart/2005/8/layout/vList2"/>
    <dgm:cxn modelId="{58ACFF51-F532-4B1E-9B14-E4AEEC8515BF}" type="presParOf" srcId="{63A72396-9862-4149-AF86-30AA35A44052}" destId="{3C993390-B9E1-4D81-85EE-BDE307F07A98}" srcOrd="6" destOrd="0" presId="urn:microsoft.com/office/officeart/2005/8/layout/vList2"/>
    <dgm:cxn modelId="{9AF21F31-1422-4E04-A044-FF7680DAF868}" type="presParOf" srcId="{63A72396-9862-4149-AF86-30AA35A44052}" destId="{21EEBEDC-69FA-407C-9A17-687799BB55A3}" srcOrd="7" destOrd="0" presId="urn:microsoft.com/office/officeart/2005/8/layout/vList2"/>
    <dgm:cxn modelId="{ECF9F248-2FAF-446C-9FBA-4CCCD85463D1}" type="presParOf" srcId="{63A72396-9862-4149-AF86-30AA35A44052}" destId="{E1AC9829-54E4-43EB-8A30-0D3A2D166B54}" srcOrd="8" destOrd="0" presId="urn:microsoft.com/office/officeart/2005/8/layout/vList2"/>
    <dgm:cxn modelId="{02B510A3-7607-4263-9B1E-FFDE22D3943D}" type="presParOf" srcId="{63A72396-9862-4149-AF86-30AA35A44052}" destId="{6ED76C39-D56B-4EDB-92CE-ED32704F63DA}" srcOrd="9" destOrd="0" presId="urn:microsoft.com/office/officeart/2005/8/layout/vList2"/>
    <dgm:cxn modelId="{9ABF1E7E-8B5B-44B0-897B-86D9EDB6A8FC}" type="presParOf" srcId="{63A72396-9862-4149-AF86-30AA35A44052}" destId="{5B80FC30-75D7-4AAE-BB72-E19D2B89C2FD}" srcOrd="10" destOrd="0" presId="urn:microsoft.com/office/officeart/2005/8/layout/vList2"/>
    <dgm:cxn modelId="{9B8926F0-1950-4C1F-A762-382F4FC16FA8}" type="presParOf" srcId="{63A72396-9862-4149-AF86-30AA35A44052}" destId="{BA3889CF-CAF0-4A40-BE9B-FBF4EA0EDFA5}" srcOrd="11" destOrd="0" presId="urn:microsoft.com/office/officeart/2005/8/layout/vList2"/>
    <dgm:cxn modelId="{023ED576-6088-44AC-8698-3D9773A5EDDE}" type="presParOf" srcId="{63A72396-9862-4149-AF86-30AA35A44052}" destId="{464F68E7-DA77-4225-99DA-7802E77E85CE}" srcOrd="12" destOrd="0" presId="urn:microsoft.com/office/officeart/2005/8/layout/vList2"/>
    <dgm:cxn modelId="{F3FA6A60-50BE-45AF-B34A-3BFB8B23D829}" type="presParOf" srcId="{63A72396-9862-4149-AF86-30AA35A44052}" destId="{0E4E6473-EF89-4B6F-BCAE-EAB3739D6642}" srcOrd="13" destOrd="0" presId="urn:microsoft.com/office/officeart/2005/8/layout/vList2"/>
    <dgm:cxn modelId="{2CA563CF-9135-404A-BDEE-1DA745B51F47}" type="presParOf" srcId="{63A72396-9862-4149-AF86-30AA35A44052}" destId="{76EA5A5E-C35C-4C25-9F7C-92793F4D89C3}" srcOrd="1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48ED75-76B2-406B-B75B-A15C4171C0B3}">
      <dsp:nvSpPr>
        <dsp:cNvPr id="0" name=""/>
        <dsp:cNvSpPr/>
      </dsp:nvSpPr>
      <dsp:spPr>
        <a:xfrm>
          <a:off x="0" y="626739"/>
          <a:ext cx="5458837" cy="3346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100000"/>
            </a:lnSpc>
            <a:spcBef>
              <a:spcPct val="0"/>
            </a:spcBef>
            <a:spcAft>
              <a:spcPct val="35000"/>
            </a:spcAft>
            <a:buNone/>
          </a:pPr>
          <a:r>
            <a:rPr lang="en-US" sz="1300" kern="1200" dirty="0"/>
            <a:t>Name: Ninad Khasale</a:t>
          </a:r>
        </a:p>
      </dsp:txBody>
      <dsp:txXfrm>
        <a:off x="16335" y="643074"/>
        <a:ext cx="5426167" cy="301950"/>
      </dsp:txXfrm>
    </dsp:sp>
    <dsp:sp modelId="{994E0F4C-DABB-4ABE-952F-3C71A3DA4759}">
      <dsp:nvSpPr>
        <dsp:cNvPr id="0" name=""/>
        <dsp:cNvSpPr/>
      </dsp:nvSpPr>
      <dsp:spPr>
        <a:xfrm>
          <a:off x="0" y="998799"/>
          <a:ext cx="5458837" cy="334620"/>
        </a:xfrm>
        <a:prstGeom prst="roundRect">
          <a:avLst/>
        </a:prstGeom>
        <a:solidFill>
          <a:schemeClr val="accent1">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dirty="0"/>
            <a:t>Email Id:  ninad.khasale@gmail.com</a:t>
          </a:r>
          <a:endParaRPr lang="en-US" sz="1300" kern="1200" dirty="0">
            <a:solidFill>
              <a:schemeClr val="bg1"/>
            </a:solidFill>
          </a:endParaRPr>
        </a:p>
      </dsp:txBody>
      <dsp:txXfrm>
        <a:off x="16335" y="1015134"/>
        <a:ext cx="5426167" cy="301950"/>
      </dsp:txXfrm>
    </dsp:sp>
    <dsp:sp modelId="{EE296C0C-54D6-417E-9124-B37C69D53C88}">
      <dsp:nvSpPr>
        <dsp:cNvPr id="0" name=""/>
        <dsp:cNvSpPr/>
      </dsp:nvSpPr>
      <dsp:spPr>
        <a:xfrm>
          <a:off x="0" y="1370859"/>
          <a:ext cx="5458837" cy="3346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100000"/>
            </a:lnSpc>
            <a:spcBef>
              <a:spcPct val="0"/>
            </a:spcBef>
            <a:spcAft>
              <a:spcPct val="35000"/>
            </a:spcAft>
            <a:buNone/>
          </a:pPr>
          <a:r>
            <a:rPr lang="en-US" sz="1300" kern="1200" dirty="0"/>
            <a:t>Contact No: 6353920303</a:t>
          </a:r>
        </a:p>
      </dsp:txBody>
      <dsp:txXfrm>
        <a:off x="16335" y="1387194"/>
        <a:ext cx="5426167" cy="301950"/>
      </dsp:txXfrm>
    </dsp:sp>
    <dsp:sp modelId="{3C993390-B9E1-4D81-85EE-BDE307F07A98}">
      <dsp:nvSpPr>
        <dsp:cNvPr id="0" name=""/>
        <dsp:cNvSpPr/>
      </dsp:nvSpPr>
      <dsp:spPr>
        <a:xfrm>
          <a:off x="0" y="1742920"/>
          <a:ext cx="5458837" cy="3346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dirty="0" err="1"/>
            <a:t>Github</a:t>
          </a:r>
          <a:r>
            <a:rPr lang="en-US" sz="1300" kern="1200" dirty="0"/>
            <a:t> Account:  </a:t>
          </a:r>
          <a:r>
            <a:rPr lang="en-IN" sz="1300" kern="1200" dirty="0"/>
            <a:t>https://github.com/ninadkhasale</a:t>
          </a:r>
          <a:endParaRPr lang="en-US" sz="1300" kern="1200" dirty="0">
            <a:solidFill>
              <a:schemeClr val="bg1"/>
            </a:solidFill>
          </a:endParaRPr>
        </a:p>
      </dsp:txBody>
      <dsp:txXfrm>
        <a:off x="16335" y="1759255"/>
        <a:ext cx="5426167" cy="301950"/>
      </dsp:txXfrm>
    </dsp:sp>
    <dsp:sp modelId="{E1AC9829-54E4-43EB-8A30-0D3A2D166B54}">
      <dsp:nvSpPr>
        <dsp:cNvPr id="0" name=""/>
        <dsp:cNvSpPr/>
      </dsp:nvSpPr>
      <dsp:spPr>
        <a:xfrm>
          <a:off x="0" y="2102120"/>
          <a:ext cx="5458837" cy="3346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dirty="0">
              <a:solidFill>
                <a:schemeClr val="bg1"/>
              </a:solidFill>
            </a:rPr>
            <a:t>Repo Link:  </a:t>
          </a:r>
          <a:r>
            <a:rPr lang="en-IN" sz="1300" kern="1200" dirty="0">
              <a:solidFill>
                <a:schemeClr val="bg1"/>
              </a:solidFill>
            </a:rPr>
            <a:t>https://github.com/ninadkhasale/LNRS_HACKATHON_Ninad</a:t>
          </a:r>
          <a:endParaRPr lang="en-US" sz="1300" kern="1200" dirty="0">
            <a:solidFill>
              <a:schemeClr val="bg1"/>
            </a:solidFill>
          </a:endParaRPr>
        </a:p>
      </dsp:txBody>
      <dsp:txXfrm>
        <a:off x="16335" y="2118455"/>
        <a:ext cx="5426167" cy="301950"/>
      </dsp:txXfrm>
    </dsp:sp>
    <dsp:sp modelId="{5B80FC30-75D7-4AAE-BB72-E19D2B89C2FD}">
      <dsp:nvSpPr>
        <dsp:cNvPr id="0" name=""/>
        <dsp:cNvSpPr/>
      </dsp:nvSpPr>
      <dsp:spPr>
        <a:xfrm>
          <a:off x="0" y="2487040"/>
          <a:ext cx="5458837" cy="3346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100000"/>
            </a:lnSpc>
            <a:spcBef>
              <a:spcPct val="0"/>
            </a:spcBef>
            <a:spcAft>
              <a:spcPct val="35000"/>
            </a:spcAft>
            <a:buNone/>
          </a:pPr>
          <a:r>
            <a:rPr lang="en-US" sz="1300" kern="1200" dirty="0"/>
            <a:t>Topic: </a:t>
          </a:r>
          <a:r>
            <a:rPr lang="en-IN" sz="1300" kern="1200" dirty="0"/>
            <a:t>Fake news detection</a:t>
          </a:r>
          <a:endParaRPr lang="en-US" sz="1300" kern="1200" dirty="0"/>
        </a:p>
      </dsp:txBody>
      <dsp:txXfrm>
        <a:off x="16335" y="2503375"/>
        <a:ext cx="5426167" cy="301950"/>
      </dsp:txXfrm>
    </dsp:sp>
    <dsp:sp modelId="{464F68E7-DA77-4225-99DA-7802E77E85CE}">
      <dsp:nvSpPr>
        <dsp:cNvPr id="0" name=""/>
        <dsp:cNvSpPr/>
      </dsp:nvSpPr>
      <dsp:spPr>
        <a:xfrm>
          <a:off x="0" y="2859100"/>
          <a:ext cx="5458837" cy="3346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100000"/>
            </a:lnSpc>
            <a:spcBef>
              <a:spcPct val="0"/>
            </a:spcBef>
            <a:spcAft>
              <a:spcPct val="35000"/>
            </a:spcAft>
            <a:buNone/>
          </a:pPr>
          <a:r>
            <a:rPr lang="en-US" sz="1300" kern="1200" dirty="0"/>
            <a:t>College:  MPSTME</a:t>
          </a:r>
        </a:p>
      </dsp:txBody>
      <dsp:txXfrm>
        <a:off x="16335" y="2875435"/>
        <a:ext cx="5426167" cy="301950"/>
      </dsp:txXfrm>
    </dsp:sp>
    <dsp:sp modelId="{76EA5A5E-C35C-4C25-9F7C-92793F4D89C3}">
      <dsp:nvSpPr>
        <dsp:cNvPr id="0" name=""/>
        <dsp:cNvSpPr/>
      </dsp:nvSpPr>
      <dsp:spPr>
        <a:xfrm>
          <a:off x="0" y="3231160"/>
          <a:ext cx="5458837" cy="3346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100000"/>
            </a:lnSpc>
            <a:spcBef>
              <a:spcPct val="0"/>
            </a:spcBef>
            <a:spcAft>
              <a:spcPct val="35000"/>
            </a:spcAft>
            <a:buNone/>
          </a:pPr>
          <a:r>
            <a:rPr lang="en-US" sz="1300" kern="1200" dirty="0"/>
            <a:t>Student Id: 70092100098</a:t>
          </a:r>
        </a:p>
      </dsp:txBody>
      <dsp:txXfrm>
        <a:off x="16335" y="3247495"/>
        <a:ext cx="5426167" cy="30195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FBD903-B387-48EE-B1BD-4C6DABF45678}" type="datetimeFigureOut">
              <a:rPr lang="en-IN" smtClean="0"/>
              <a:t>16-10-2024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FC9AB7-3BF7-4492-A78D-336B78EA01A2}" type="slidenum">
              <a:rPr lang="en-IN" smtClean="0"/>
              <a:t>‹#›</a:t>
            </a:fld>
            <a:endParaRPr lang="en-IN"/>
          </a:p>
        </p:txBody>
      </p:sp>
    </p:spTree>
    <p:extLst>
      <p:ext uri="{BB962C8B-B14F-4D97-AF65-F5344CB8AC3E}">
        <p14:creationId xmlns:p14="http://schemas.microsoft.com/office/powerpoint/2010/main" val="1189151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3FC9AB7-3BF7-4492-A78D-336B78EA01A2}" type="slidenum">
              <a:rPr lang="en-IN" smtClean="0"/>
              <a:t>1</a:t>
            </a:fld>
            <a:endParaRPr lang="en-IN"/>
          </a:p>
        </p:txBody>
      </p:sp>
    </p:spTree>
    <p:extLst>
      <p:ext uri="{BB962C8B-B14F-4D97-AF65-F5344CB8AC3E}">
        <p14:creationId xmlns:p14="http://schemas.microsoft.com/office/powerpoint/2010/main" val="1083258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3FC9AB7-3BF7-4492-A78D-336B78EA01A2}" type="slidenum">
              <a:rPr lang="en-IN" smtClean="0"/>
              <a:t>2</a:t>
            </a:fld>
            <a:endParaRPr lang="en-IN"/>
          </a:p>
        </p:txBody>
      </p:sp>
    </p:spTree>
    <p:extLst>
      <p:ext uri="{BB962C8B-B14F-4D97-AF65-F5344CB8AC3E}">
        <p14:creationId xmlns:p14="http://schemas.microsoft.com/office/powerpoint/2010/main" val="14142476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3FC9AB7-3BF7-4492-A78D-336B78EA01A2}" type="slidenum">
              <a:rPr lang="en-IN" smtClean="0"/>
              <a:t>13</a:t>
            </a:fld>
            <a:endParaRPr lang="en-IN"/>
          </a:p>
        </p:txBody>
      </p:sp>
    </p:spTree>
    <p:extLst>
      <p:ext uri="{BB962C8B-B14F-4D97-AF65-F5344CB8AC3E}">
        <p14:creationId xmlns:p14="http://schemas.microsoft.com/office/powerpoint/2010/main" val="37543201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48FAF-C324-AFD2-B0E1-2E26045A0A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7E52E7B-8320-64C2-DD1A-7FCEE5C752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C8FE085-2433-BB2E-2094-E7584B562BD2}"/>
              </a:ext>
            </a:extLst>
          </p:cNvPr>
          <p:cNvSpPr>
            <a:spLocks noGrp="1"/>
          </p:cNvSpPr>
          <p:nvPr>
            <p:ph type="dt" sz="half" idx="10"/>
          </p:nvPr>
        </p:nvSpPr>
        <p:spPr/>
        <p:txBody>
          <a:bodyPr/>
          <a:lstStyle/>
          <a:p>
            <a:fld id="{88ECAF58-CADF-4475-9E46-33A2046419AC}" type="datetimeFigureOut">
              <a:rPr lang="en-IN" smtClean="0"/>
              <a:t>16-10-2024</a:t>
            </a:fld>
            <a:endParaRPr lang="en-IN"/>
          </a:p>
        </p:txBody>
      </p:sp>
      <p:sp>
        <p:nvSpPr>
          <p:cNvPr id="5" name="Footer Placeholder 4">
            <a:extLst>
              <a:ext uri="{FF2B5EF4-FFF2-40B4-BE49-F238E27FC236}">
                <a16:creationId xmlns:a16="http://schemas.microsoft.com/office/drawing/2014/main" id="{EA16EFF0-42D9-B16E-C520-93E5E98282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1BCE0C-FC5D-8F1B-65D3-ED5C34A89425}"/>
              </a:ext>
            </a:extLst>
          </p:cNvPr>
          <p:cNvSpPr>
            <a:spLocks noGrp="1"/>
          </p:cNvSpPr>
          <p:nvPr>
            <p:ph type="sldNum" sz="quarter" idx="12"/>
          </p:nvPr>
        </p:nvSpPr>
        <p:spPr/>
        <p:txBody>
          <a:bodyPr/>
          <a:lstStyle/>
          <a:p>
            <a:fld id="{DB46FAE2-DEDF-4311-8D8F-743FBE480C19}" type="slidenum">
              <a:rPr lang="en-IN" smtClean="0"/>
              <a:t>‹#›</a:t>
            </a:fld>
            <a:endParaRPr lang="en-IN"/>
          </a:p>
        </p:txBody>
      </p:sp>
    </p:spTree>
    <p:extLst>
      <p:ext uri="{BB962C8B-B14F-4D97-AF65-F5344CB8AC3E}">
        <p14:creationId xmlns:p14="http://schemas.microsoft.com/office/powerpoint/2010/main" val="2268646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BBF75-6F5A-BA7E-10C1-CA2B1FAD52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1ADD42-E6CF-799F-33DD-442008A4C0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59BE19-0B45-48D6-5E45-B041F1957580}"/>
              </a:ext>
            </a:extLst>
          </p:cNvPr>
          <p:cNvSpPr>
            <a:spLocks noGrp="1"/>
          </p:cNvSpPr>
          <p:nvPr>
            <p:ph type="dt" sz="half" idx="10"/>
          </p:nvPr>
        </p:nvSpPr>
        <p:spPr/>
        <p:txBody>
          <a:bodyPr/>
          <a:lstStyle/>
          <a:p>
            <a:fld id="{88ECAF58-CADF-4475-9E46-33A2046419AC}" type="datetimeFigureOut">
              <a:rPr lang="en-IN" smtClean="0"/>
              <a:t>16-10-2024</a:t>
            </a:fld>
            <a:endParaRPr lang="en-IN"/>
          </a:p>
        </p:txBody>
      </p:sp>
      <p:sp>
        <p:nvSpPr>
          <p:cNvPr id="5" name="Footer Placeholder 4">
            <a:extLst>
              <a:ext uri="{FF2B5EF4-FFF2-40B4-BE49-F238E27FC236}">
                <a16:creationId xmlns:a16="http://schemas.microsoft.com/office/drawing/2014/main" id="{36177425-CC96-F4B1-8089-9BBEB4B9CD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1FE9B4-E69A-3685-B358-D58E5B308EEF}"/>
              </a:ext>
            </a:extLst>
          </p:cNvPr>
          <p:cNvSpPr>
            <a:spLocks noGrp="1"/>
          </p:cNvSpPr>
          <p:nvPr>
            <p:ph type="sldNum" sz="quarter" idx="12"/>
          </p:nvPr>
        </p:nvSpPr>
        <p:spPr/>
        <p:txBody>
          <a:bodyPr/>
          <a:lstStyle/>
          <a:p>
            <a:fld id="{DB46FAE2-DEDF-4311-8D8F-743FBE480C19}" type="slidenum">
              <a:rPr lang="en-IN" smtClean="0"/>
              <a:t>‹#›</a:t>
            </a:fld>
            <a:endParaRPr lang="en-IN"/>
          </a:p>
        </p:txBody>
      </p:sp>
    </p:spTree>
    <p:extLst>
      <p:ext uri="{BB962C8B-B14F-4D97-AF65-F5344CB8AC3E}">
        <p14:creationId xmlns:p14="http://schemas.microsoft.com/office/powerpoint/2010/main" val="3929398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5C0A3-D2F9-5677-CFF9-ADEF45B53B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33AC6EA-A184-177D-2630-569E9A08962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67BE4C-51B6-B105-09E4-F45E29E11E33}"/>
              </a:ext>
            </a:extLst>
          </p:cNvPr>
          <p:cNvSpPr>
            <a:spLocks noGrp="1"/>
          </p:cNvSpPr>
          <p:nvPr>
            <p:ph type="dt" sz="half" idx="10"/>
          </p:nvPr>
        </p:nvSpPr>
        <p:spPr/>
        <p:txBody>
          <a:bodyPr/>
          <a:lstStyle/>
          <a:p>
            <a:fld id="{88ECAF58-CADF-4475-9E46-33A2046419AC}" type="datetimeFigureOut">
              <a:rPr lang="en-IN" smtClean="0"/>
              <a:t>16-10-2024</a:t>
            </a:fld>
            <a:endParaRPr lang="en-IN"/>
          </a:p>
        </p:txBody>
      </p:sp>
      <p:sp>
        <p:nvSpPr>
          <p:cNvPr id="5" name="Footer Placeholder 4">
            <a:extLst>
              <a:ext uri="{FF2B5EF4-FFF2-40B4-BE49-F238E27FC236}">
                <a16:creationId xmlns:a16="http://schemas.microsoft.com/office/drawing/2014/main" id="{5DA8336E-5CCA-524B-E6C3-BAEA2BA3A2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5E8654-1F03-834B-20C7-F9BEACF9DF9C}"/>
              </a:ext>
            </a:extLst>
          </p:cNvPr>
          <p:cNvSpPr>
            <a:spLocks noGrp="1"/>
          </p:cNvSpPr>
          <p:nvPr>
            <p:ph type="sldNum" sz="quarter" idx="12"/>
          </p:nvPr>
        </p:nvSpPr>
        <p:spPr/>
        <p:txBody>
          <a:bodyPr/>
          <a:lstStyle/>
          <a:p>
            <a:fld id="{DB46FAE2-DEDF-4311-8D8F-743FBE480C19}" type="slidenum">
              <a:rPr lang="en-IN" smtClean="0"/>
              <a:t>‹#›</a:t>
            </a:fld>
            <a:endParaRPr lang="en-IN"/>
          </a:p>
        </p:txBody>
      </p:sp>
    </p:spTree>
    <p:extLst>
      <p:ext uri="{BB962C8B-B14F-4D97-AF65-F5344CB8AC3E}">
        <p14:creationId xmlns:p14="http://schemas.microsoft.com/office/powerpoint/2010/main" val="945046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F8C93-F5C3-68AD-1B56-3644B69EB7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390953-5063-E7C0-623A-FA294C52C3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D1E1635-B68D-F315-F863-092BE2E379F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DF1330B-ED12-FFF8-7755-4F486AB83E93}"/>
              </a:ext>
            </a:extLst>
          </p:cNvPr>
          <p:cNvSpPr>
            <a:spLocks noGrp="1"/>
          </p:cNvSpPr>
          <p:nvPr>
            <p:ph type="dt" sz="half" idx="10"/>
          </p:nvPr>
        </p:nvSpPr>
        <p:spPr/>
        <p:txBody>
          <a:bodyPr/>
          <a:lstStyle/>
          <a:p>
            <a:fld id="{88ECAF58-CADF-4475-9E46-33A2046419AC}" type="datetimeFigureOut">
              <a:rPr lang="en-IN" smtClean="0"/>
              <a:t>16-10-2024</a:t>
            </a:fld>
            <a:endParaRPr lang="en-IN"/>
          </a:p>
        </p:txBody>
      </p:sp>
      <p:sp>
        <p:nvSpPr>
          <p:cNvPr id="6" name="Footer Placeholder 5">
            <a:extLst>
              <a:ext uri="{FF2B5EF4-FFF2-40B4-BE49-F238E27FC236}">
                <a16:creationId xmlns:a16="http://schemas.microsoft.com/office/drawing/2014/main" id="{08C5DE28-77A8-BC97-97D7-F624546AAFC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982DE5E-2EA8-EA13-EAC5-69EF7116DB84}"/>
              </a:ext>
            </a:extLst>
          </p:cNvPr>
          <p:cNvSpPr>
            <a:spLocks noGrp="1"/>
          </p:cNvSpPr>
          <p:nvPr>
            <p:ph type="sldNum" sz="quarter" idx="12"/>
          </p:nvPr>
        </p:nvSpPr>
        <p:spPr/>
        <p:txBody>
          <a:bodyPr/>
          <a:lstStyle/>
          <a:p>
            <a:fld id="{DB46FAE2-DEDF-4311-8D8F-743FBE480C19}" type="slidenum">
              <a:rPr lang="en-IN" smtClean="0"/>
              <a:t>‹#›</a:t>
            </a:fld>
            <a:endParaRPr lang="en-IN"/>
          </a:p>
        </p:txBody>
      </p:sp>
    </p:spTree>
    <p:extLst>
      <p:ext uri="{BB962C8B-B14F-4D97-AF65-F5344CB8AC3E}">
        <p14:creationId xmlns:p14="http://schemas.microsoft.com/office/powerpoint/2010/main" val="1692699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BAA09-0E16-A653-B948-158D45FF070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4F3D123-AD36-D44D-0FDB-B8817C01C3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F1C64F-BACB-2159-6CCB-EEBFA152F6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DD3F906-1709-11F7-D8C4-72373F110D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229690-AC58-8B46-9CFE-3AB99E3C16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BFC22BC-7CE3-8265-7215-D893682F37F6}"/>
              </a:ext>
            </a:extLst>
          </p:cNvPr>
          <p:cNvSpPr>
            <a:spLocks noGrp="1"/>
          </p:cNvSpPr>
          <p:nvPr>
            <p:ph type="dt" sz="half" idx="10"/>
          </p:nvPr>
        </p:nvSpPr>
        <p:spPr/>
        <p:txBody>
          <a:bodyPr/>
          <a:lstStyle/>
          <a:p>
            <a:fld id="{88ECAF58-CADF-4475-9E46-33A2046419AC}" type="datetimeFigureOut">
              <a:rPr lang="en-IN" smtClean="0"/>
              <a:t>16-10-2024</a:t>
            </a:fld>
            <a:endParaRPr lang="en-IN"/>
          </a:p>
        </p:txBody>
      </p:sp>
      <p:sp>
        <p:nvSpPr>
          <p:cNvPr id="8" name="Footer Placeholder 7">
            <a:extLst>
              <a:ext uri="{FF2B5EF4-FFF2-40B4-BE49-F238E27FC236}">
                <a16:creationId xmlns:a16="http://schemas.microsoft.com/office/drawing/2014/main" id="{6E7F7A1B-308A-6602-4870-4DD521C1CFA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8C83A51-C9BC-643D-D9FB-DF7F6AD64A77}"/>
              </a:ext>
            </a:extLst>
          </p:cNvPr>
          <p:cNvSpPr>
            <a:spLocks noGrp="1"/>
          </p:cNvSpPr>
          <p:nvPr>
            <p:ph type="sldNum" sz="quarter" idx="12"/>
          </p:nvPr>
        </p:nvSpPr>
        <p:spPr/>
        <p:txBody>
          <a:bodyPr/>
          <a:lstStyle/>
          <a:p>
            <a:fld id="{DB46FAE2-DEDF-4311-8D8F-743FBE480C19}" type="slidenum">
              <a:rPr lang="en-IN" smtClean="0"/>
              <a:t>‹#›</a:t>
            </a:fld>
            <a:endParaRPr lang="en-IN"/>
          </a:p>
        </p:txBody>
      </p:sp>
    </p:spTree>
    <p:extLst>
      <p:ext uri="{BB962C8B-B14F-4D97-AF65-F5344CB8AC3E}">
        <p14:creationId xmlns:p14="http://schemas.microsoft.com/office/powerpoint/2010/main" val="1081202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047C0-22DB-1FBC-F4C4-45047D4EBB5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1BE6374-41B7-5D9E-F555-88C6D9EEC771}"/>
              </a:ext>
            </a:extLst>
          </p:cNvPr>
          <p:cNvSpPr>
            <a:spLocks noGrp="1"/>
          </p:cNvSpPr>
          <p:nvPr>
            <p:ph type="dt" sz="half" idx="10"/>
          </p:nvPr>
        </p:nvSpPr>
        <p:spPr/>
        <p:txBody>
          <a:bodyPr/>
          <a:lstStyle/>
          <a:p>
            <a:fld id="{88ECAF58-CADF-4475-9E46-33A2046419AC}" type="datetimeFigureOut">
              <a:rPr lang="en-IN" smtClean="0"/>
              <a:t>16-10-2024</a:t>
            </a:fld>
            <a:endParaRPr lang="en-IN"/>
          </a:p>
        </p:txBody>
      </p:sp>
      <p:sp>
        <p:nvSpPr>
          <p:cNvPr id="4" name="Footer Placeholder 3">
            <a:extLst>
              <a:ext uri="{FF2B5EF4-FFF2-40B4-BE49-F238E27FC236}">
                <a16:creationId xmlns:a16="http://schemas.microsoft.com/office/drawing/2014/main" id="{F6814DDF-A585-64D6-CF8D-33CEDA7BE3F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4696133-5DED-B886-76CA-2AC4D34095E2}"/>
              </a:ext>
            </a:extLst>
          </p:cNvPr>
          <p:cNvSpPr>
            <a:spLocks noGrp="1"/>
          </p:cNvSpPr>
          <p:nvPr>
            <p:ph type="sldNum" sz="quarter" idx="12"/>
          </p:nvPr>
        </p:nvSpPr>
        <p:spPr/>
        <p:txBody>
          <a:bodyPr/>
          <a:lstStyle/>
          <a:p>
            <a:fld id="{DB46FAE2-DEDF-4311-8D8F-743FBE480C19}" type="slidenum">
              <a:rPr lang="en-IN" smtClean="0"/>
              <a:t>‹#›</a:t>
            </a:fld>
            <a:endParaRPr lang="en-IN"/>
          </a:p>
        </p:txBody>
      </p:sp>
    </p:spTree>
    <p:extLst>
      <p:ext uri="{BB962C8B-B14F-4D97-AF65-F5344CB8AC3E}">
        <p14:creationId xmlns:p14="http://schemas.microsoft.com/office/powerpoint/2010/main" val="1680789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5EB898-24E0-2430-0C49-1E2F478E0E77}"/>
              </a:ext>
            </a:extLst>
          </p:cNvPr>
          <p:cNvSpPr>
            <a:spLocks noGrp="1"/>
          </p:cNvSpPr>
          <p:nvPr>
            <p:ph type="dt" sz="half" idx="10"/>
          </p:nvPr>
        </p:nvSpPr>
        <p:spPr/>
        <p:txBody>
          <a:bodyPr/>
          <a:lstStyle/>
          <a:p>
            <a:fld id="{88ECAF58-CADF-4475-9E46-33A2046419AC}" type="datetimeFigureOut">
              <a:rPr lang="en-IN" smtClean="0"/>
              <a:t>16-10-2024</a:t>
            </a:fld>
            <a:endParaRPr lang="en-IN"/>
          </a:p>
        </p:txBody>
      </p:sp>
      <p:sp>
        <p:nvSpPr>
          <p:cNvPr id="3" name="Footer Placeholder 2">
            <a:extLst>
              <a:ext uri="{FF2B5EF4-FFF2-40B4-BE49-F238E27FC236}">
                <a16:creationId xmlns:a16="http://schemas.microsoft.com/office/drawing/2014/main" id="{C15E4B58-E891-A625-F982-56738AB5242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B07CD91-5888-CD1D-EC07-C3F902D9FF9F}"/>
              </a:ext>
            </a:extLst>
          </p:cNvPr>
          <p:cNvSpPr>
            <a:spLocks noGrp="1"/>
          </p:cNvSpPr>
          <p:nvPr>
            <p:ph type="sldNum" sz="quarter" idx="12"/>
          </p:nvPr>
        </p:nvSpPr>
        <p:spPr/>
        <p:txBody>
          <a:bodyPr/>
          <a:lstStyle/>
          <a:p>
            <a:fld id="{DB46FAE2-DEDF-4311-8D8F-743FBE480C19}" type="slidenum">
              <a:rPr lang="en-IN" smtClean="0"/>
              <a:t>‹#›</a:t>
            </a:fld>
            <a:endParaRPr lang="en-IN"/>
          </a:p>
        </p:txBody>
      </p:sp>
    </p:spTree>
    <p:extLst>
      <p:ext uri="{BB962C8B-B14F-4D97-AF65-F5344CB8AC3E}">
        <p14:creationId xmlns:p14="http://schemas.microsoft.com/office/powerpoint/2010/main" val="356412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08914-4B10-D719-12BB-96E9EF47C3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C4B0A41-8D69-0912-7A39-EE5294E6B5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AFF9A14-F4F5-74B2-FF26-DE962802FC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F57B0A-D762-570E-45E6-AC40B2E065D4}"/>
              </a:ext>
            </a:extLst>
          </p:cNvPr>
          <p:cNvSpPr>
            <a:spLocks noGrp="1"/>
          </p:cNvSpPr>
          <p:nvPr>
            <p:ph type="dt" sz="half" idx="10"/>
          </p:nvPr>
        </p:nvSpPr>
        <p:spPr/>
        <p:txBody>
          <a:bodyPr/>
          <a:lstStyle/>
          <a:p>
            <a:fld id="{88ECAF58-CADF-4475-9E46-33A2046419AC}" type="datetimeFigureOut">
              <a:rPr lang="en-IN" smtClean="0"/>
              <a:t>16-10-2024</a:t>
            </a:fld>
            <a:endParaRPr lang="en-IN"/>
          </a:p>
        </p:txBody>
      </p:sp>
      <p:sp>
        <p:nvSpPr>
          <p:cNvPr id="6" name="Footer Placeholder 5">
            <a:extLst>
              <a:ext uri="{FF2B5EF4-FFF2-40B4-BE49-F238E27FC236}">
                <a16:creationId xmlns:a16="http://schemas.microsoft.com/office/drawing/2014/main" id="{F4655FC9-675F-83FD-E270-C9CC0A1A25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A0E34F-562B-860D-E392-3C1EC20639E1}"/>
              </a:ext>
            </a:extLst>
          </p:cNvPr>
          <p:cNvSpPr>
            <a:spLocks noGrp="1"/>
          </p:cNvSpPr>
          <p:nvPr>
            <p:ph type="sldNum" sz="quarter" idx="12"/>
          </p:nvPr>
        </p:nvSpPr>
        <p:spPr/>
        <p:txBody>
          <a:bodyPr/>
          <a:lstStyle/>
          <a:p>
            <a:fld id="{DB46FAE2-DEDF-4311-8D8F-743FBE480C19}" type="slidenum">
              <a:rPr lang="en-IN" smtClean="0"/>
              <a:t>‹#›</a:t>
            </a:fld>
            <a:endParaRPr lang="en-IN"/>
          </a:p>
        </p:txBody>
      </p:sp>
    </p:spTree>
    <p:extLst>
      <p:ext uri="{BB962C8B-B14F-4D97-AF65-F5344CB8AC3E}">
        <p14:creationId xmlns:p14="http://schemas.microsoft.com/office/powerpoint/2010/main" val="3132753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05F63-EB50-7E78-E07D-47D372D364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E0AC971-D683-7A36-4AE6-8D27E14CB7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FA849FA-EF7A-D1FE-30EE-962B95701E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766455-6931-A256-3540-04572374A68E}"/>
              </a:ext>
            </a:extLst>
          </p:cNvPr>
          <p:cNvSpPr>
            <a:spLocks noGrp="1"/>
          </p:cNvSpPr>
          <p:nvPr>
            <p:ph type="dt" sz="half" idx="10"/>
          </p:nvPr>
        </p:nvSpPr>
        <p:spPr/>
        <p:txBody>
          <a:bodyPr/>
          <a:lstStyle/>
          <a:p>
            <a:fld id="{88ECAF58-CADF-4475-9E46-33A2046419AC}" type="datetimeFigureOut">
              <a:rPr lang="en-IN" smtClean="0"/>
              <a:t>16-10-2024</a:t>
            </a:fld>
            <a:endParaRPr lang="en-IN"/>
          </a:p>
        </p:txBody>
      </p:sp>
      <p:sp>
        <p:nvSpPr>
          <p:cNvPr id="6" name="Footer Placeholder 5">
            <a:extLst>
              <a:ext uri="{FF2B5EF4-FFF2-40B4-BE49-F238E27FC236}">
                <a16:creationId xmlns:a16="http://schemas.microsoft.com/office/drawing/2014/main" id="{27A1297D-BA33-3C4C-2C4A-72162927DD1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E96A21-338E-36B7-9337-7962397DA796}"/>
              </a:ext>
            </a:extLst>
          </p:cNvPr>
          <p:cNvSpPr>
            <a:spLocks noGrp="1"/>
          </p:cNvSpPr>
          <p:nvPr>
            <p:ph type="sldNum" sz="quarter" idx="12"/>
          </p:nvPr>
        </p:nvSpPr>
        <p:spPr/>
        <p:txBody>
          <a:bodyPr/>
          <a:lstStyle/>
          <a:p>
            <a:fld id="{DB46FAE2-DEDF-4311-8D8F-743FBE480C19}" type="slidenum">
              <a:rPr lang="en-IN" smtClean="0"/>
              <a:t>‹#›</a:t>
            </a:fld>
            <a:endParaRPr lang="en-IN"/>
          </a:p>
        </p:txBody>
      </p:sp>
    </p:spTree>
    <p:extLst>
      <p:ext uri="{BB962C8B-B14F-4D97-AF65-F5344CB8AC3E}">
        <p14:creationId xmlns:p14="http://schemas.microsoft.com/office/powerpoint/2010/main" val="2088786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CAE4A-7AF3-C229-9013-EEEFF81F001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52C5F44-55E2-7967-71BF-6EDF55F395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99E28E-A36D-4A58-1202-A28268FA4529}"/>
              </a:ext>
            </a:extLst>
          </p:cNvPr>
          <p:cNvSpPr>
            <a:spLocks noGrp="1"/>
          </p:cNvSpPr>
          <p:nvPr>
            <p:ph type="dt" sz="half" idx="10"/>
          </p:nvPr>
        </p:nvSpPr>
        <p:spPr/>
        <p:txBody>
          <a:bodyPr/>
          <a:lstStyle/>
          <a:p>
            <a:fld id="{88ECAF58-CADF-4475-9E46-33A2046419AC}" type="datetimeFigureOut">
              <a:rPr lang="en-IN" smtClean="0"/>
              <a:t>16-10-2024</a:t>
            </a:fld>
            <a:endParaRPr lang="en-IN"/>
          </a:p>
        </p:txBody>
      </p:sp>
      <p:sp>
        <p:nvSpPr>
          <p:cNvPr id="5" name="Footer Placeholder 4">
            <a:extLst>
              <a:ext uri="{FF2B5EF4-FFF2-40B4-BE49-F238E27FC236}">
                <a16:creationId xmlns:a16="http://schemas.microsoft.com/office/drawing/2014/main" id="{9DE7617E-2A9A-5BC5-78C6-A94ACC4BE8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0002E5-4474-2F06-9459-7282D2E7B1FE}"/>
              </a:ext>
            </a:extLst>
          </p:cNvPr>
          <p:cNvSpPr>
            <a:spLocks noGrp="1"/>
          </p:cNvSpPr>
          <p:nvPr>
            <p:ph type="sldNum" sz="quarter" idx="12"/>
          </p:nvPr>
        </p:nvSpPr>
        <p:spPr/>
        <p:txBody>
          <a:bodyPr/>
          <a:lstStyle/>
          <a:p>
            <a:fld id="{DB46FAE2-DEDF-4311-8D8F-743FBE480C19}" type="slidenum">
              <a:rPr lang="en-IN" smtClean="0"/>
              <a:t>‹#›</a:t>
            </a:fld>
            <a:endParaRPr lang="en-IN"/>
          </a:p>
        </p:txBody>
      </p:sp>
    </p:spTree>
    <p:extLst>
      <p:ext uri="{BB962C8B-B14F-4D97-AF65-F5344CB8AC3E}">
        <p14:creationId xmlns:p14="http://schemas.microsoft.com/office/powerpoint/2010/main" val="921593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594B82-5A13-3F30-AB3E-780141BFD3F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1C7714C-47AA-265B-5087-18DA7AEE22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4A68C9-4067-882B-1343-FD5CD8025B26}"/>
              </a:ext>
            </a:extLst>
          </p:cNvPr>
          <p:cNvSpPr>
            <a:spLocks noGrp="1"/>
          </p:cNvSpPr>
          <p:nvPr>
            <p:ph type="dt" sz="half" idx="10"/>
          </p:nvPr>
        </p:nvSpPr>
        <p:spPr/>
        <p:txBody>
          <a:bodyPr/>
          <a:lstStyle/>
          <a:p>
            <a:fld id="{88ECAF58-CADF-4475-9E46-33A2046419AC}" type="datetimeFigureOut">
              <a:rPr lang="en-IN" smtClean="0"/>
              <a:t>16-10-2024</a:t>
            </a:fld>
            <a:endParaRPr lang="en-IN"/>
          </a:p>
        </p:txBody>
      </p:sp>
      <p:sp>
        <p:nvSpPr>
          <p:cNvPr id="5" name="Footer Placeholder 4">
            <a:extLst>
              <a:ext uri="{FF2B5EF4-FFF2-40B4-BE49-F238E27FC236}">
                <a16:creationId xmlns:a16="http://schemas.microsoft.com/office/drawing/2014/main" id="{90EBB790-5144-199B-97BF-0ED533213C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513E05-A77D-5143-D740-C4410EA615D2}"/>
              </a:ext>
            </a:extLst>
          </p:cNvPr>
          <p:cNvSpPr>
            <a:spLocks noGrp="1"/>
          </p:cNvSpPr>
          <p:nvPr>
            <p:ph type="sldNum" sz="quarter" idx="12"/>
          </p:nvPr>
        </p:nvSpPr>
        <p:spPr/>
        <p:txBody>
          <a:bodyPr/>
          <a:lstStyle/>
          <a:p>
            <a:fld id="{DB46FAE2-DEDF-4311-8D8F-743FBE480C19}" type="slidenum">
              <a:rPr lang="en-IN" smtClean="0"/>
              <a:t>‹#›</a:t>
            </a:fld>
            <a:endParaRPr lang="en-IN"/>
          </a:p>
        </p:txBody>
      </p:sp>
    </p:spTree>
    <p:extLst>
      <p:ext uri="{BB962C8B-B14F-4D97-AF65-F5344CB8AC3E}">
        <p14:creationId xmlns:p14="http://schemas.microsoft.com/office/powerpoint/2010/main" val="21117187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reaker - Overlay - Image Placeholde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838BDB87-5F61-D2C4-5734-A47DCC0E60DB}"/>
              </a:ext>
            </a:extLst>
          </p:cNvPr>
          <p:cNvSpPr>
            <a:spLocks noGrp="1"/>
          </p:cNvSpPr>
          <p:nvPr>
            <p:ph type="pic" sz="quarter" idx="13"/>
          </p:nvPr>
        </p:nvSpPr>
        <p:spPr>
          <a:xfrm>
            <a:off x="319522" y="316076"/>
            <a:ext cx="11552957" cy="5731432"/>
          </a:xfrm>
          <a:solidFill>
            <a:schemeClr val="accent2">
              <a:lumMod val="20000"/>
              <a:lumOff val="80000"/>
            </a:schemeClr>
          </a:solidFill>
        </p:spPr>
        <p:txBody>
          <a:bodyPr tIns="0" bIns="914400" anchor="ctr" anchorCtr="0"/>
          <a:lstStyle>
            <a:lvl1pPr algn="ctr">
              <a:defRPr/>
            </a:lvl1pPr>
          </a:lstStyle>
          <a:p>
            <a:endParaRPr lang="en-US" dirty="0"/>
          </a:p>
        </p:txBody>
      </p:sp>
      <p:sp>
        <p:nvSpPr>
          <p:cNvPr id="6" name="Title 5"/>
          <p:cNvSpPr>
            <a:spLocks noGrp="1"/>
          </p:cNvSpPr>
          <p:nvPr>
            <p:ph type="title"/>
          </p:nvPr>
        </p:nvSpPr>
        <p:spPr>
          <a:xfrm>
            <a:off x="303240" y="1636479"/>
            <a:ext cx="4466292" cy="1366528"/>
          </a:xfrm>
          <a:solidFill>
            <a:schemeClr val="tx1">
              <a:alpha val="50000"/>
            </a:schemeClr>
          </a:solidFill>
          <a:ln w="38100">
            <a:solidFill>
              <a:schemeClr val="bg1"/>
            </a:solidFill>
          </a:ln>
        </p:spPr>
        <p:txBody>
          <a:bodyPr wrap="square" lIns="457200" tIns="320040" rIns="210312" bIns="320040" anchor="ctr" anchorCtr="0">
            <a:spAutoFit/>
          </a:bodyPr>
          <a:lstStyle>
            <a:lvl1pPr>
              <a:defRPr sz="2600">
                <a:solidFill>
                  <a:schemeClr val="bg1"/>
                </a:solidFill>
                <a:latin typeface="+mj-lt"/>
              </a:defRPr>
            </a:lvl1pPr>
          </a:lstStyle>
          <a:p>
            <a:r>
              <a:rPr lang="en-US" dirty="0"/>
              <a:t>Click to edit Master title style</a:t>
            </a:r>
          </a:p>
        </p:txBody>
      </p:sp>
      <p:sp>
        <p:nvSpPr>
          <p:cNvPr id="4" name="Footer Placeholder 4">
            <a:extLst>
              <a:ext uri="{FF2B5EF4-FFF2-40B4-BE49-F238E27FC236}">
                <a16:creationId xmlns:a16="http://schemas.microsoft.com/office/drawing/2014/main" id="{1F2ACC5A-E1B8-DD64-339D-991CD470788A}"/>
              </a:ext>
            </a:extLst>
          </p:cNvPr>
          <p:cNvSpPr>
            <a:spLocks noGrp="1"/>
          </p:cNvSpPr>
          <p:nvPr>
            <p:ph type="ftr" sz="quarter" idx="3"/>
          </p:nvPr>
        </p:nvSpPr>
        <p:spPr>
          <a:xfrm>
            <a:off x="6924676" y="6353968"/>
            <a:ext cx="4535916" cy="365125"/>
          </a:xfrm>
          <a:prstGeom prst="rect">
            <a:avLst/>
          </a:prstGeom>
        </p:spPr>
        <p:txBody>
          <a:bodyPr vert="horz" lIns="0" tIns="0" rIns="0" bIns="0" rtlCol="0" anchor="ctr"/>
          <a:lstStyle>
            <a:lvl1pPr algn="r">
              <a:defRPr kumimoji="0" lang="en-US" sz="1200" b="0" i="0" u="none" strike="noStrike" kern="1200" cap="none" spc="0" normalizeH="0" baseline="0" dirty="0">
                <a:ln>
                  <a:noFill/>
                </a:ln>
                <a:solidFill>
                  <a:prstClr val="black">
                    <a:lumMod val="50000"/>
                    <a:lumOff val="50000"/>
                  </a:prstClr>
                </a:solidFill>
                <a:effectLst/>
                <a:uLnTx/>
                <a:uFillTx/>
                <a:latin typeface="Source Sans Pro" pitchFamily="34" charset="0"/>
                <a:ea typeface="+mn-ea"/>
                <a:cs typeface="+mn-cs"/>
              </a:defRPr>
            </a:lvl1pPr>
          </a:lstStyle>
          <a:p>
            <a:r>
              <a:rPr lang="en-US" dirty="0"/>
              <a:t>Presentation Title Here (Insert Menu &gt; Header &amp; Footer &gt; Apply)</a:t>
            </a:r>
          </a:p>
        </p:txBody>
      </p:sp>
      <p:sp>
        <p:nvSpPr>
          <p:cNvPr id="2" name="Slide Number Placeholder 1">
            <a:extLst>
              <a:ext uri="{FF2B5EF4-FFF2-40B4-BE49-F238E27FC236}">
                <a16:creationId xmlns:a16="http://schemas.microsoft.com/office/drawing/2014/main" id="{A6D5B0B2-6C0A-7AE2-7D0B-16285CB99708}"/>
              </a:ext>
            </a:extLst>
          </p:cNvPr>
          <p:cNvSpPr>
            <a:spLocks noGrp="1"/>
          </p:cNvSpPr>
          <p:nvPr>
            <p:ph type="sldNum" sz="quarter" idx="14"/>
          </p:nvPr>
        </p:nvSpPr>
        <p:spPr>
          <a:xfrm>
            <a:off x="11460591" y="6353968"/>
            <a:ext cx="398033" cy="367507"/>
          </a:xfrm>
        </p:spPr>
        <p:txBody>
          <a:bodyPr/>
          <a:lstStyle/>
          <a:p>
            <a:fld id="{4994CE7A-9BF7-418F-B3FB-B7D8B748063D}" type="slidenum">
              <a:rPr lang="en-US" smtClean="0"/>
              <a:pPr/>
              <a:t>‹#›</a:t>
            </a:fld>
            <a:endParaRPr lang="en-US" dirty="0"/>
          </a:p>
        </p:txBody>
      </p:sp>
    </p:spTree>
    <p:extLst>
      <p:ext uri="{BB962C8B-B14F-4D97-AF65-F5344CB8AC3E}">
        <p14:creationId xmlns:p14="http://schemas.microsoft.com/office/powerpoint/2010/main" val="1161813537"/>
      </p:ext>
    </p:extLst>
  </p:cSld>
  <p:clrMapOvr>
    <a:masterClrMapping/>
  </p:clrMapOvr>
  <p:extLst>
    <p:ext uri="{DCECCB84-F9BA-43D5-87BE-67443E8EF086}">
      <p15:sldGuideLst xmlns:p15="http://schemas.microsoft.com/office/powerpoint/2012/main">
        <p15:guide id="0" orient="horz" pos="2433">
          <p15:clr>
            <a:srgbClr val="FBAE40"/>
          </p15:clr>
        </p15:guide>
        <p15:guide id="1" pos="354">
          <p15:clr>
            <a:srgbClr val="FBAE40"/>
          </p15:clr>
        </p15:guide>
        <p15:guide id="2" pos="7200">
          <p15:clr>
            <a:srgbClr val="FBAE40"/>
          </p15:clr>
        </p15:guide>
        <p15:guide id="3" pos="747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336549" y="292608"/>
            <a:ext cx="11513969" cy="874319"/>
          </a:xfrm>
        </p:spPr>
        <p:txBody>
          <a:bodyPr/>
          <a:lstStyle/>
          <a:p>
            <a:r>
              <a:rPr lang="en-US" dirty="0"/>
              <a:t>Click to edit Master title style</a:t>
            </a:r>
          </a:p>
        </p:txBody>
      </p:sp>
      <p:sp>
        <p:nvSpPr>
          <p:cNvPr id="4" name="Footer Placeholder 3"/>
          <p:cNvSpPr>
            <a:spLocks noGrp="1"/>
          </p:cNvSpPr>
          <p:nvPr>
            <p:ph type="ftr" sz="quarter" idx="11"/>
          </p:nvPr>
        </p:nvSpPr>
        <p:spPr/>
        <p:txBody>
          <a:bodyPr/>
          <a:lstStyle/>
          <a:p>
            <a:r>
              <a:rPr lang="en-US" dirty="0"/>
              <a:t>Presentation Title Here (Insert Menu &gt; Header &amp; Footer &gt; Apply)</a:t>
            </a:r>
          </a:p>
        </p:txBody>
      </p:sp>
      <p:sp>
        <p:nvSpPr>
          <p:cNvPr id="3" name="Slide Number Placeholder 2">
            <a:extLst>
              <a:ext uri="{FF2B5EF4-FFF2-40B4-BE49-F238E27FC236}">
                <a16:creationId xmlns:a16="http://schemas.microsoft.com/office/drawing/2014/main" id="{66AC6CD7-6C5E-6ED5-A518-A78A0B6BACB0}"/>
              </a:ext>
            </a:extLst>
          </p:cNvPr>
          <p:cNvSpPr>
            <a:spLocks noGrp="1"/>
          </p:cNvSpPr>
          <p:nvPr>
            <p:ph type="sldNum" sz="quarter" idx="12"/>
          </p:nvPr>
        </p:nvSpPr>
        <p:spPr/>
        <p:txBody>
          <a:bodyPr/>
          <a:lstStyle/>
          <a:p>
            <a:fld id="{4994CE7A-9BF7-418F-B3FB-B7D8B748063D}" type="slidenum">
              <a:rPr lang="en-US" smtClean="0"/>
              <a:pPr/>
              <a:t>‹#›</a:t>
            </a:fld>
            <a:endParaRPr lang="en-US" dirty="0"/>
          </a:p>
        </p:txBody>
      </p:sp>
      <p:sp>
        <p:nvSpPr>
          <p:cNvPr id="5" name="Text Placeholder 7">
            <a:extLst>
              <a:ext uri="{FF2B5EF4-FFF2-40B4-BE49-F238E27FC236}">
                <a16:creationId xmlns:a16="http://schemas.microsoft.com/office/drawing/2014/main" id="{D134C2B3-60E8-5128-54DA-700C6DDBD30D}"/>
              </a:ext>
            </a:extLst>
          </p:cNvPr>
          <p:cNvSpPr>
            <a:spLocks noGrp="1"/>
          </p:cNvSpPr>
          <p:nvPr>
            <p:ph type="body" sz="quarter" idx="13" hasCustomPrompt="1"/>
          </p:nvPr>
        </p:nvSpPr>
        <p:spPr>
          <a:xfrm>
            <a:off x="336547" y="5981814"/>
            <a:ext cx="11513969" cy="138499"/>
          </a:xfrm>
        </p:spPr>
        <p:txBody>
          <a:bodyPr lIns="0" tIns="0" rIns="0" bIns="0" anchor="b" anchorCtr="0">
            <a:spAutoFit/>
          </a:bodyPr>
          <a:lstStyle>
            <a:lvl1pPr marL="0" indent="0">
              <a:buNone/>
              <a:defRPr kumimoji="0" lang="en-US" sz="900" u="none" strike="noStrike" kern="1200" cap="none" spc="0" normalizeH="0" baseline="0" dirty="0">
                <a:ln>
                  <a:noFill/>
                </a:ln>
                <a:solidFill>
                  <a:prstClr val="black">
                    <a:lumMod val="65000"/>
                    <a:lumOff val="35000"/>
                  </a:prstClr>
                </a:solidFill>
                <a:effectLst/>
                <a:uLnTx/>
                <a:uFillTx/>
                <a:latin typeface="Source Sans Pro" panose="020B0503030403020204" pitchFamily="34" charset="0"/>
                <a:ea typeface="Source Sans Pro" panose="020B0503030403020204" pitchFamily="34" charset="0"/>
                <a:cs typeface="+mn-cs"/>
              </a:defRPr>
            </a:lvl1pPr>
            <a:lvl2pPr marL="228600" indent="-228600">
              <a:defRPr/>
            </a:lvl2pPr>
            <a:lvl3pPr marL="228600" indent="-228600">
              <a:defRPr/>
            </a:lvl3pPr>
            <a:lvl4pPr marL="228600" indent="-228600">
              <a:defRPr/>
            </a:lvl4pPr>
            <a:lvl5pPr marL="228600" indent="-228600">
              <a:defRPr/>
            </a:lvl5pPr>
          </a:lstStyle>
          <a:p>
            <a:pPr marL="228600" marR="0" lvl="0" indent="-228600" algn="l" defTabSz="914400" rtl="0" eaLnBrk="1" fontAlgn="auto" latinLnBrk="0" hangingPunct="1">
              <a:lnSpc>
                <a:spcPct val="100000"/>
              </a:lnSpc>
              <a:spcBef>
                <a:spcPts val="0"/>
              </a:spcBef>
              <a:spcAft>
                <a:spcPts val="0"/>
              </a:spcAft>
              <a:buClrTx/>
              <a:buSzTx/>
              <a:tabLst/>
              <a:defRPr/>
            </a:pPr>
            <a:r>
              <a:rPr lang="en-US" dirty="0"/>
              <a:t>Source: </a:t>
            </a:r>
          </a:p>
        </p:txBody>
      </p:sp>
    </p:spTree>
    <p:extLst>
      <p:ext uri="{BB962C8B-B14F-4D97-AF65-F5344CB8AC3E}">
        <p14:creationId xmlns:p14="http://schemas.microsoft.com/office/powerpoint/2010/main" val="16390235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Closing Slide (If Necessary)">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5463539" y="6481231"/>
            <a:ext cx="1264923" cy="109728"/>
          </a:xfrm>
          <a:prstGeom prst="rect">
            <a:avLst/>
          </a:prstGeom>
        </p:spPr>
      </p:pic>
      <p:pic>
        <p:nvPicPr>
          <p:cNvPr id="4" name="Picture 3"/>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3973386" y="2587433"/>
            <a:ext cx="4389564" cy="1319406"/>
          </a:xfrm>
          <a:prstGeom prst="rect">
            <a:avLst/>
          </a:prstGeom>
        </p:spPr>
      </p:pic>
      <p:sp>
        <p:nvSpPr>
          <p:cNvPr id="2" name="TextBox 1">
            <a:extLst>
              <a:ext uri="{FF2B5EF4-FFF2-40B4-BE49-F238E27FC236}">
                <a16:creationId xmlns:a16="http://schemas.microsoft.com/office/drawing/2014/main" id="{F4E5765E-01B4-B134-9FDA-370DDBD0CC9D}"/>
              </a:ext>
            </a:extLst>
          </p:cNvPr>
          <p:cNvSpPr txBox="1"/>
          <p:nvPr userDrawn="1"/>
        </p:nvSpPr>
        <p:spPr>
          <a:xfrm>
            <a:off x="1164771" y="6270171"/>
            <a:ext cx="9862458" cy="400110"/>
          </a:xfrm>
          <a:prstGeom prst="rect">
            <a:avLst/>
          </a:prstGeom>
          <a:noFill/>
        </p:spPr>
        <p:txBody>
          <a:bodyPr wrap="square" rtlCol="0">
            <a:spAutoFit/>
          </a:bodyPr>
          <a:lstStyle/>
          <a:p>
            <a:pPr algn="ctr"/>
            <a:r>
              <a:rPr lang="en-US" sz="1000" dirty="0">
                <a:solidFill>
                  <a:schemeClr val="tx1">
                    <a:lumMod val="50000"/>
                    <a:lumOff val="50000"/>
                  </a:schemeClr>
                </a:solidFill>
                <a:ea typeface="Source Sans Pro Light" panose="020B0403030403020204" pitchFamily="34" charset="0"/>
              </a:rPr>
              <a:t>LexisNexis and the Knowledge Burst logo are registered trademarks of RELX Inc.</a:t>
            </a:r>
          </a:p>
          <a:p>
            <a:pPr algn="ctr"/>
            <a:r>
              <a:rPr lang="en-US" sz="1000" dirty="0">
                <a:solidFill>
                  <a:schemeClr val="tx1">
                    <a:lumMod val="50000"/>
                    <a:lumOff val="50000"/>
                  </a:schemeClr>
                </a:solidFill>
                <a:ea typeface="Source Sans Pro Light" panose="020B0403030403020204" pitchFamily="34" charset="0"/>
              </a:rPr>
              <a:t>© 2024 LexisNexis Risk Solutions</a:t>
            </a:r>
          </a:p>
        </p:txBody>
      </p:sp>
    </p:spTree>
    <p:extLst>
      <p:ext uri="{BB962C8B-B14F-4D97-AF65-F5344CB8AC3E}">
        <p14:creationId xmlns:p14="http://schemas.microsoft.com/office/powerpoint/2010/main" val="474975518"/>
      </p:ext>
    </p:extLst>
  </p:cSld>
  <p:clrMapOvr>
    <a:masterClrMapping/>
  </p:clrMapOvr>
  <p:extLst>
    <p:ext uri="{DCECCB84-F9BA-43D5-87BE-67443E8EF086}">
      <p15:sldGuideLst xmlns:p15="http://schemas.microsoft.com/office/powerpoint/2012/main">
        <p15:guide id="1" pos="480">
          <p15:clr>
            <a:srgbClr val="FBAE40"/>
          </p15:clr>
        </p15:guide>
        <p15:guide id="2" pos="720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8C461B-9B40-987D-1815-B71D3F6117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0DDB58-43DB-7046-C118-DFEB8674D6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D65D99-7102-F475-7094-EC389FB545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8ECAF58-CADF-4475-9E46-33A2046419AC}" type="datetimeFigureOut">
              <a:rPr lang="en-IN" smtClean="0"/>
              <a:t>16-10-2024</a:t>
            </a:fld>
            <a:endParaRPr lang="en-IN"/>
          </a:p>
        </p:txBody>
      </p:sp>
      <p:sp>
        <p:nvSpPr>
          <p:cNvPr id="5" name="Footer Placeholder 4">
            <a:extLst>
              <a:ext uri="{FF2B5EF4-FFF2-40B4-BE49-F238E27FC236}">
                <a16:creationId xmlns:a16="http://schemas.microsoft.com/office/drawing/2014/main" id="{11792F34-B86C-9159-0A8A-0D0C50D973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B0F25C6-28F8-53F8-DF54-BD4259FC28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B46FAE2-DEDF-4311-8D8F-743FBE480C19}" type="slidenum">
              <a:rPr lang="en-IN" smtClean="0"/>
              <a:t>‹#›</a:t>
            </a:fld>
            <a:endParaRPr lang="en-IN"/>
          </a:p>
        </p:txBody>
      </p:sp>
    </p:spTree>
    <p:extLst>
      <p:ext uri="{BB962C8B-B14F-4D97-AF65-F5344CB8AC3E}">
        <p14:creationId xmlns:p14="http://schemas.microsoft.com/office/powerpoint/2010/main" val="3677172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pn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7.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5A5EC58-6871-6F16-2193-1C6E2143EC9E}"/>
              </a:ext>
            </a:extLst>
          </p:cNvPr>
          <p:cNvSpPr>
            <a:spLocks noGrp="1"/>
          </p:cNvSpPr>
          <p:nvPr>
            <p:ph type="sldNum" sz="quarter" idx="14"/>
          </p:nvPr>
        </p:nvSpPr>
        <p:spPr/>
        <p:txBody>
          <a:bodyPr/>
          <a:lstStyle/>
          <a:p>
            <a:fld id="{4994CE7A-9BF7-418F-B3FB-B7D8B748063D}" type="slidenum">
              <a:rPr lang="en-US" smtClean="0"/>
              <a:pPr/>
              <a:t>1</a:t>
            </a:fld>
            <a:endParaRPr lang="en-US"/>
          </a:p>
        </p:txBody>
      </p:sp>
      <p:pic>
        <p:nvPicPr>
          <p:cNvPr id="16" name="Picture Placeholder 15">
            <a:extLst>
              <a:ext uri="{FF2B5EF4-FFF2-40B4-BE49-F238E27FC236}">
                <a16:creationId xmlns:a16="http://schemas.microsoft.com/office/drawing/2014/main" id="{8270CDBC-E8D9-9ECF-BFA8-F280D292A3F6}"/>
              </a:ext>
            </a:extLst>
          </p:cNvPr>
          <p:cNvPicPr>
            <a:picLocks noGrp="1" noRot="1" noChangeAspect="1" noMove="1" noResize="1" noEditPoints="1" noAdjustHandles="1" noChangeArrowheads="1" noChangeShapeType="1" noCrop="1"/>
          </p:cNvPicPr>
          <p:nvPr>
            <p:ph type="pic" sz="quarter" idx="13"/>
          </p:nvPr>
        </p:nvPicPr>
        <p:blipFill>
          <a:blip r:embed="rId3">
            <a:extLst>
              <a:ext uri="{28A0092B-C50C-407E-A947-70E740481C1C}">
                <a14:useLocalDpi xmlns:a14="http://schemas.microsoft.com/office/drawing/2010/main" val="0"/>
              </a:ext>
            </a:extLst>
          </a:blip>
          <a:srcRect t="5" b="5"/>
          <a:stretch>
            <a:fillRect/>
          </a:stretch>
        </p:blipFill>
        <p:spPr>
          <a:xfrm>
            <a:off x="305667" y="250667"/>
            <a:ext cx="11552957" cy="5731432"/>
          </a:xfrm>
        </p:spPr>
      </p:pic>
      <p:sp>
        <p:nvSpPr>
          <p:cNvPr id="17" name="Title 2">
            <a:extLst>
              <a:ext uri="{FF2B5EF4-FFF2-40B4-BE49-F238E27FC236}">
                <a16:creationId xmlns:a16="http://schemas.microsoft.com/office/drawing/2014/main" id="{A1DF1DA3-D0DC-EE5C-8F89-4DA9668EB671}"/>
              </a:ext>
            </a:extLst>
          </p:cNvPr>
          <p:cNvSpPr txBox="1">
            <a:spLocks noGrp="1" noRot="1" noMove="1" noResize="1" noEditPoints="1" noAdjustHandles="1" noChangeArrowheads="1" noChangeShapeType="1"/>
          </p:cNvSpPr>
          <p:nvPr/>
        </p:nvSpPr>
        <p:spPr>
          <a:xfrm>
            <a:off x="324407" y="1837695"/>
            <a:ext cx="4466292" cy="738664"/>
          </a:xfrm>
          <a:prstGeom prst="rect">
            <a:avLst/>
          </a:prstGeom>
          <a:solidFill>
            <a:srgbClr val="FF0000"/>
          </a:solidFill>
          <a:ln w="38100">
            <a:solidFill>
              <a:srgbClr val="FF0000"/>
            </a:solidFill>
          </a:ln>
        </p:spPr>
        <p:txBody>
          <a:bodyPr vert="horz" wrap="square" lIns="210312" tIns="210312" rIns="210312" bIns="164592" rtlCol="0" anchor="t" anchorCtr="0">
            <a:spAutoFit/>
          </a:bodyPr>
          <a:lstStyle>
            <a:defPPr>
              <a:defRPr lang="en-US"/>
            </a:defPPr>
            <a:lvl1pPr>
              <a:lnSpc>
                <a:spcPct val="90000"/>
              </a:lnSpc>
              <a:spcBef>
                <a:spcPct val="0"/>
              </a:spcBef>
              <a:buNone/>
              <a:defRPr sz="2600">
                <a:solidFill>
                  <a:schemeClr val="bg1"/>
                </a:solidFill>
                <a:latin typeface="+mj-lt"/>
              </a:defRPr>
            </a:lvl1pPr>
            <a:lvl2pPr>
              <a:defRPr/>
            </a:lvl2pPr>
            <a:lvl3pPr>
              <a:defRPr/>
            </a:lvl3pPr>
            <a:lvl4pPr>
              <a:defRPr/>
            </a:lvl4pPr>
            <a:lvl5pPr>
              <a:defRPr/>
            </a:lvl5pPr>
            <a:lvl6pPr>
              <a:defRPr/>
            </a:lvl6pPr>
            <a:lvl7pPr>
              <a:defRPr/>
            </a:lvl7pPr>
            <a:lvl8pPr>
              <a:defRPr/>
            </a:lvl8pPr>
            <a:lvl9pPr>
              <a:defRPr/>
            </a:lvl9pPr>
          </a:lstStyle>
          <a:p>
            <a:r>
              <a:rPr lang="en-US"/>
              <a:t>HACKATHON 2024</a:t>
            </a:r>
            <a:endParaRPr lang="en-US" dirty="0"/>
          </a:p>
        </p:txBody>
      </p:sp>
      <p:pic>
        <p:nvPicPr>
          <p:cNvPr id="8" name="Picture 7" descr="A black background with red text&#10;&#10;Description automatically generated">
            <a:extLst>
              <a:ext uri="{FF2B5EF4-FFF2-40B4-BE49-F238E27FC236}">
                <a16:creationId xmlns:a16="http://schemas.microsoft.com/office/drawing/2014/main" id="{4AE1676A-F790-6FB8-9809-375831C7856D}"/>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333376" y="6268837"/>
            <a:ext cx="1673678" cy="392538"/>
          </a:xfrm>
          <a:prstGeom prst="rect">
            <a:avLst/>
          </a:prstGeom>
        </p:spPr>
      </p:pic>
      <p:sp>
        <p:nvSpPr>
          <p:cNvPr id="10" name="Footer Placeholder 2">
            <a:extLst>
              <a:ext uri="{FF2B5EF4-FFF2-40B4-BE49-F238E27FC236}">
                <a16:creationId xmlns:a16="http://schemas.microsoft.com/office/drawing/2014/main" id="{9A3D0900-CFFC-BF6B-A26C-DE0C27F7F46C}"/>
              </a:ext>
            </a:extLst>
          </p:cNvPr>
          <p:cNvSpPr txBox="1">
            <a:spLocks noGrp="1" noRot="1" noMove="1" noResize="1" noEditPoints="1" noAdjustHandles="1" noChangeArrowheads="1" noChangeShapeType="1"/>
          </p:cNvSpPr>
          <p:nvPr/>
        </p:nvSpPr>
        <p:spPr>
          <a:xfrm>
            <a:off x="4038600" y="6345464"/>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dirty="0">
                <a:solidFill>
                  <a:schemeClr val="tx1">
                    <a:tint val="82000"/>
                  </a:schemeClr>
                </a:solidFill>
              </a:rPr>
              <a:t>LNRS</a:t>
            </a:r>
            <a:r>
              <a:rPr lang="en-US" dirty="0"/>
              <a:t> </a:t>
            </a:r>
            <a:r>
              <a:rPr lang="en-US" sz="1200" dirty="0">
                <a:solidFill>
                  <a:schemeClr val="tx1">
                    <a:tint val="82000"/>
                  </a:schemeClr>
                </a:solidFill>
              </a:rPr>
              <a:t>HACKATHON</a:t>
            </a:r>
            <a:r>
              <a:rPr lang="en-US" dirty="0"/>
              <a:t> </a:t>
            </a:r>
            <a:r>
              <a:rPr lang="en-US" sz="1200" dirty="0">
                <a:solidFill>
                  <a:schemeClr val="tx1">
                    <a:tint val="82000"/>
                  </a:schemeClr>
                </a:solidFill>
              </a:rPr>
              <a:t>2024</a:t>
            </a:r>
          </a:p>
        </p:txBody>
      </p:sp>
    </p:spTree>
    <p:extLst>
      <p:ext uri="{BB962C8B-B14F-4D97-AF65-F5344CB8AC3E}">
        <p14:creationId xmlns:p14="http://schemas.microsoft.com/office/powerpoint/2010/main" val="3650471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2" name="Arc 4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C931451-D4C6-D9DC-6E04-879ECD8B5603}"/>
              </a:ext>
            </a:extLst>
          </p:cNvPr>
          <p:cNvSpPr>
            <a:spLocks noGrp="1"/>
          </p:cNvSpPr>
          <p:nvPr>
            <p:ph type="title"/>
          </p:nvPr>
        </p:nvSpPr>
        <p:spPr>
          <a:xfrm>
            <a:off x="5894962" y="479493"/>
            <a:ext cx="5458838" cy="1325563"/>
          </a:xfrm>
        </p:spPr>
        <p:txBody>
          <a:bodyPr vert="horz" lIns="91440" tIns="45720" rIns="91440" bIns="45720" rtlCol="0" anchor="ctr">
            <a:normAutofit/>
          </a:bodyPr>
          <a:lstStyle/>
          <a:p>
            <a:r>
              <a:rPr lang="en-US" sz="4400" kern="1200">
                <a:solidFill>
                  <a:srgbClr val="FF0000"/>
                </a:solidFill>
                <a:latin typeface="+mj-lt"/>
                <a:ea typeface="+mj-ea"/>
                <a:cs typeface="+mj-cs"/>
              </a:rPr>
              <a:t>ABOUT ME</a:t>
            </a:r>
            <a:endParaRPr lang="en-US" sz="4400" kern="1200" dirty="0">
              <a:solidFill>
                <a:srgbClr val="FF0000"/>
              </a:solidFill>
              <a:latin typeface="+mj-lt"/>
              <a:ea typeface="+mj-ea"/>
              <a:cs typeface="+mj-cs"/>
            </a:endParaRPr>
          </a:p>
        </p:txBody>
      </p:sp>
      <p:sp>
        <p:nvSpPr>
          <p:cNvPr id="43" name="Freeform: Shape 4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Placeholder 5">
            <a:extLst>
              <a:ext uri="{FF2B5EF4-FFF2-40B4-BE49-F238E27FC236}">
                <a16:creationId xmlns:a16="http://schemas.microsoft.com/office/drawing/2014/main" id="{BE295DE7-E957-64AB-44A5-EE5A67665534}"/>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rcRect l="2938" r="2938"/>
          <a:stretch/>
        </p:blipFill>
        <p:spPr>
          <a:xfrm>
            <a:off x="703182" y="688501"/>
            <a:ext cx="4777381" cy="5311254"/>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graphicFrame>
        <p:nvGraphicFramePr>
          <p:cNvPr id="45" name="Text Placeholder 3">
            <a:extLst>
              <a:ext uri="{FF2B5EF4-FFF2-40B4-BE49-F238E27FC236}">
                <a16:creationId xmlns:a16="http://schemas.microsoft.com/office/drawing/2014/main" id="{8258B150-3EC7-B6AD-C06D-802D60EE650F}"/>
              </a:ext>
            </a:extLst>
          </p:cNvPr>
          <p:cNvGraphicFramePr>
            <a:graphicFrameLocks/>
          </p:cNvGraphicFramePr>
          <p:nvPr>
            <p:extLst>
              <p:ext uri="{D42A27DB-BD31-4B8C-83A1-F6EECF244321}">
                <p14:modId xmlns:p14="http://schemas.microsoft.com/office/powerpoint/2010/main" val="2436172320"/>
              </p:ext>
            </p:extLst>
          </p:nvPr>
        </p:nvGraphicFramePr>
        <p:xfrm>
          <a:off x="5894962" y="1984443"/>
          <a:ext cx="5458838" cy="419252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561482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60D1A-77B0-69B1-B2C8-DB0545158018}"/>
              </a:ext>
            </a:extLst>
          </p:cNvPr>
          <p:cNvSpPr>
            <a:spLocks noGrp="1"/>
          </p:cNvSpPr>
          <p:nvPr>
            <p:ph type="title"/>
          </p:nvPr>
        </p:nvSpPr>
        <p:spPr>
          <a:xfrm>
            <a:off x="838200" y="365125"/>
            <a:ext cx="10642600" cy="5090795"/>
          </a:xfrm>
        </p:spPr>
        <p:txBody>
          <a:bodyPr>
            <a:normAutofit/>
          </a:bodyPr>
          <a:lstStyle/>
          <a:p>
            <a:r>
              <a:rPr lang="en-US" sz="4000" b="1" dirty="0"/>
              <a:t>Title: Fake News Detection Using Machine Learning</a:t>
            </a:r>
            <a:br>
              <a:rPr lang="en-US" sz="2400" b="1" dirty="0"/>
            </a:br>
            <a:br>
              <a:rPr lang="en-US" dirty="0"/>
            </a:br>
            <a:r>
              <a:rPr lang="en-US" sz="2400" b="1" dirty="0"/>
              <a:t>Subtitle</a:t>
            </a:r>
            <a:r>
              <a:rPr lang="en-US" sz="2400" dirty="0"/>
              <a:t>: </a:t>
            </a:r>
            <a:r>
              <a:rPr lang="en-US" sz="2400" b="1" dirty="0"/>
              <a:t>A Comparison Between the Fake News and ISOT Fake News Datasets</a:t>
            </a:r>
            <a:br>
              <a:rPr lang="en-US" sz="2400" b="1" dirty="0"/>
            </a:br>
            <a:br>
              <a:rPr lang="en-US" dirty="0"/>
            </a:br>
            <a:r>
              <a:rPr lang="en-US" sz="2800" b="1" dirty="0"/>
              <a:t>Presented by</a:t>
            </a:r>
            <a:r>
              <a:rPr lang="en-US" sz="2800" dirty="0"/>
              <a:t>: Ninad Khasale</a:t>
            </a:r>
            <a:endParaRPr lang="en-IN" sz="2800" dirty="0"/>
          </a:p>
        </p:txBody>
      </p:sp>
    </p:spTree>
    <p:extLst>
      <p:ext uri="{BB962C8B-B14F-4D97-AF65-F5344CB8AC3E}">
        <p14:creationId xmlns:p14="http://schemas.microsoft.com/office/powerpoint/2010/main" val="3998005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55BB4-031C-56B7-C74F-2B32CE458B27}"/>
              </a:ext>
            </a:extLst>
          </p:cNvPr>
          <p:cNvSpPr>
            <a:spLocks noGrp="1"/>
          </p:cNvSpPr>
          <p:nvPr>
            <p:ph type="title"/>
          </p:nvPr>
        </p:nvSpPr>
        <p:spPr>
          <a:xfrm>
            <a:off x="627380" y="1015682"/>
            <a:ext cx="10937240" cy="4826635"/>
          </a:xfrm>
        </p:spPr>
        <p:txBody>
          <a:bodyPr>
            <a:normAutofit fontScale="90000"/>
          </a:bodyPr>
          <a:lstStyle/>
          <a:p>
            <a:pPr>
              <a:buFont typeface="Arial" panose="020B0604020202020204" pitchFamily="34" charset="0"/>
              <a:buChar char="•"/>
            </a:pPr>
            <a:r>
              <a:rPr lang="en-IN" b="1" dirty="0"/>
              <a:t>Introduction</a:t>
            </a:r>
            <a:br>
              <a:rPr lang="en-IN" b="1" dirty="0"/>
            </a:br>
            <a:br>
              <a:rPr lang="en-IN" b="1" dirty="0"/>
            </a:br>
            <a:r>
              <a:rPr lang="en-IN" sz="2400" b="1" dirty="0"/>
              <a:t> </a:t>
            </a:r>
            <a:r>
              <a:rPr lang="en-US" sz="2400" b="1" dirty="0"/>
              <a:t>What is Fake News?</a:t>
            </a:r>
            <a:br>
              <a:rPr lang="en-US" sz="2400" dirty="0"/>
            </a:br>
            <a:r>
              <a:rPr lang="en-US" sz="2400" dirty="0"/>
              <a:t>Fake news refers to false or misleading information presented as news. It can lead to confusion, misinformation, and has significant societal impacts.</a:t>
            </a:r>
            <a:br>
              <a:rPr lang="en-US" sz="2400" dirty="0"/>
            </a:br>
            <a:br>
              <a:rPr lang="en-US" sz="2400" dirty="0"/>
            </a:br>
            <a:r>
              <a:rPr lang="en-US" sz="2400" b="1" dirty="0"/>
              <a:t>Why is Fake News Detection Important?</a:t>
            </a:r>
            <a:br>
              <a:rPr lang="en-US" sz="2400" dirty="0"/>
            </a:br>
            <a:r>
              <a:rPr lang="en-US" sz="2400" dirty="0"/>
              <a:t>The rapid spread of fake news via social media and other platforms influences public opinion, undermines trust in media, and even sparks political conflicts.</a:t>
            </a:r>
            <a:br>
              <a:rPr lang="en-US" sz="2400" dirty="0"/>
            </a:br>
            <a:br>
              <a:rPr lang="en-US" sz="2400" dirty="0"/>
            </a:br>
            <a:r>
              <a:rPr lang="en-US" sz="2400" b="1" dirty="0"/>
              <a:t>Project Aim:</a:t>
            </a:r>
            <a:br>
              <a:rPr lang="en-US" sz="2400" dirty="0"/>
            </a:br>
            <a:r>
              <a:rPr lang="en-US" sz="2400" dirty="0"/>
              <a:t>To detect fake news using machine learning models trained on two prominent datasets: </a:t>
            </a:r>
            <a:r>
              <a:rPr lang="en-US" sz="2400" b="1" dirty="0"/>
              <a:t>Fake News Dataset</a:t>
            </a:r>
            <a:r>
              <a:rPr lang="en-US" sz="2400" dirty="0"/>
              <a:t> and </a:t>
            </a:r>
            <a:r>
              <a:rPr lang="en-US" sz="2400" b="1" dirty="0"/>
              <a:t>ISOT Fake News Dataset</a:t>
            </a:r>
            <a:r>
              <a:rPr lang="en-US" sz="2400" dirty="0"/>
              <a:t>.</a:t>
            </a:r>
            <a:br>
              <a:rPr lang="en-US" sz="1100" dirty="0"/>
            </a:br>
            <a:endParaRPr lang="en-IN" sz="2700" dirty="0"/>
          </a:p>
        </p:txBody>
      </p:sp>
    </p:spTree>
    <p:extLst>
      <p:ext uri="{BB962C8B-B14F-4D97-AF65-F5344CB8AC3E}">
        <p14:creationId xmlns:p14="http://schemas.microsoft.com/office/powerpoint/2010/main" val="353284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78FEA-1A08-5BE6-9528-C4801A4D9102}"/>
              </a:ext>
            </a:extLst>
          </p:cNvPr>
          <p:cNvSpPr>
            <a:spLocks noGrp="1"/>
          </p:cNvSpPr>
          <p:nvPr>
            <p:ph type="title"/>
          </p:nvPr>
        </p:nvSpPr>
        <p:spPr>
          <a:xfrm>
            <a:off x="838200" y="1030922"/>
            <a:ext cx="10515600" cy="4796155"/>
          </a:xfrm>
        </p:spPr>
        <p:txBody>
          <a:bodyPr>
            <a:noAutofit/>
          </a:bodyPr>
          <a:lstStyle/>
          <a:p>
            <a:pPr marL="0" marR="0" lvl="0" indent="0" algn="l" defTabSz="914400" rtl="0" eaLnBrk="0" fontAlgn="base" latinLnBrk="0" hangingPunct="0">
              <a:lnSpc>
                <a:spcPct val="100000"/>
              </a:lnSpc>
              <a:spcBef>
                <a:spcPct val="0"/>
              </a:spcBef>
              <a:spcAft>
                <a:spcPct val="0"/>
              </a:spcAft>
              <a:buClrTx/>
              <a:buSzTx/>
              <a:tabLst/>
            </a:pPr>
            <a:r>
              <a:rPr lang="en-IN" sz="4000" b="1" dirty="0"/>
              <a:t>Datasets Used</a:t>
            </a:r>
            <a:br>
              <a:rPr lang="en-IN" sz="4000" b="1" dirty="0"/>
            </a:br>
            <a:br>
              <a:rPr lang="en-IN" sz="2400" dirty="0"/>
            </a:br>
            <a:r>
              <a:rPr lang="en-IN" sz="2400" dirty="0"/>
              <a:t>1) </a:t>
            </a:r>
            <a:r>
              <a:rPr kumimoji="0" lang="en-US" altLang="en-US" sz="2400" i="0" u="none" strike="noStrike" cap="none" normalizeH="0" baseline="0" dirty="0">
                <a:ln>
                  <a:noFill/>
                </a:ln>
                <a:solidFill>
                  <a:schemeClr val="tx1"/>
                </a:solidFill>
                <a:effectLst/>
                <a:latin typeface="Arial" panose="020B0604020202020204" pitchFamily="34" charset="0"/>
              </a:rPr>
              <a:t>LIAR Dataset</a:t>
            </a:r>
            <a:br>
              <a:rPr kumimoji="0" lang="en-US" altLang="en-US" sz="2400" i="0" u="none" strike="noStrike" cap="none" normalizeH="0" baseline="0" dirty="0">
                <a:ln>
                  <a:noFill/>
                </a:ln>
                <a:solidFill>
                  <a:schemeClr val="tx1"/>
                </a:solidFill>
                <a:effectLst/>
                <a:latin typeface="Arial" panose="020B0604020202020204" pitchFamily="34" charset="0"/>
              </a:rPr>
            </a:br>
            <a:r>
              <a:rPr kumimoji="0" lang="en-US" altLang="en-US" sz="2400" i="0" u="none" strike="noStrike" cap="none" normalizeH="0" baseline="0" dirty="0">
                <a:ln>
                  <a:noFill/>
                </a:ln>
                <a:solidFill>
                  <a:schemeClr val="tx1"/>
                </a:solidFill>
                <a:effectLst/>
                <a:latin typeface="Arial" panose="020B0604020202020204" pitchFamily="34" charset="0"/>
              </a:rPr>
              <a:t>2) Fake and Real News Dataset (Kaggle)</a:t>
            </a:r>
            <a:br>
              <a:rPr kumimoji="0" lang="en-US" altLang="en-US" sz="2400" i="0" u="none" strike="noStrike" cap="none" normalizeH="0" baseline="0" dirty="0">
                <a:ln>
                  <a:noFill/>
                </a:ln>
                <a:solidFill>
                  <a:schemeClr val="tx1"/>
                </a:solidFill>
                <a:effectLst/>
                <a:latin typeface="Arial" panose="020B0604020202020204" pitchFamily="34" charset="0"/>
              </a:rPr>
            </a:br>
            <a:r>
              <a:rPr kumimoji="0" lang="en-US" altLang="en-US" sz="2400" i="0" u="none" strike="noStrike" cap="none" normalizeH="0" baseline="0" dirty="0">
                <a:ln>
                  <a:noFill/>
                </a:ln>
                <a:solidFill>
                  <a:schemeClr val="tx1"/>
                </a:solidFill>
                <a:effectLst/>
                <a:latin typeface="Arial" panose="020B0604020202020204" pitchFamily="34" charset="0"/>
              </a:rPr>
              <a:t>3) BuzzFeed News Dataset</a:t>
            </a:r>
            <a:br>
              <a:rPr kumimoji="0" lang="en-US" altLang="en-US" sz="2400" i="0" u="none" strike="noStrike" cap="none" normalizeH="0" baseline="0" dirty="0">
                <a:ln>
                  <a:noFill/>
                </a:ln>
                <a:solidFill>
                  <a:schemeClr val="tx1"/>
                </a:solidFill>
                <a:effectLst/>
                <a:latin typeface="Arial" panose="020B0604020202020204" pitchFamily="34" charset="0"/>
              </a:rPr>
            </a:br>
            <a:r>
              <a:rPr kumimoji="0" lang="en-US" altLang="en-US" sz="2400" i="0" u="none" strike="noStrike" cap="none" normalizeH="0" baseline="0" dirty="0">
                <a:ln>
                  <a:noFill/>
                </a:ln>
                <a:solidFill>
                  <a:schemeClr val="tx1"/>
                </a:solidFill>
                <a:effectLst/>
                <a:latin typeface="Arial" panose="020B0604020202020204" pitchFamily="34" charset="0"/>
              </a:rPr>
              <a:t>5) PolitiFact Fact-Check Dataset </a:t>
            </a:r>
            <a:br>
              <a:rPr kumimoji="0" lang="en-US" altLang="en-US" sz="2400" b="0" i="0" u="none" strike="noStrike" cap="none" normalizeH="0" baseline="0" dirty="0">
                <a:ln>
                  <a:noFill/>
                </a:ln>
                <a:solidFill>
                  <a:schemeClr val="tx1"/>
                </a:solidFill>
                <a:effectLst/>
                <a:latin typeface="Arial" panose="020B0604020202020204" pitchFamily="34" charset="0"/>
              </a:rPr>
            </a:br>
            <a:br>
              <a:rPr lang="en-IN" sz="2400" dirty="0"/>
            </a:b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1" i="0" u="none" strike="noStrike" cap="none" normalizeH="0" baseline="0" dirty="0">
                <a:ln>
                  <a:noFill/>
                </a:ln>
                <a:solidFill>
                  <a:schemeClr val="tx1"/>
                </a:solidFill>
                <a:effectLst/>
                <a:latin typeface="Arial" panose="020B0604020202020204" pitchFamily="34" charset="0"/>
              </a:rPr>
              <a:t>Why These Datasets?</a:t>
            </a:r>
            <a:br>
              <a:rPr kumimoji="0" lang="en-US" altLang="en-US" sz="2400" b="0" i="0" u="none" strike="noStrike" cap="none" normalizeH="0" baseline="0" dirty="0">
                <a:ln>
                  <a:noFill/>
                </a:ln>
                <a:solidFill>
                  <a:schemeClr val="tx1"/>
                </a:solidFill>
                <a:effectLst/>
                <a:latin typeface="Arial" panose="020B0604020202020204" pitchFamily="34" charset="0"/>
              </a:rPr>
            </a:br>
            <a:r>
              <a:rPr lang="en-US" altLang="en-US" sz="2400" dirty="0">
                <a:latin typeface="Arial" panose="020B0604020202020204" pitchFamily="34" charset="0"/>
              </a:rPr>
              <a:t>These</a:t>
            </a:r>
            <a:r>
              <a:rPr kumimoji="0" lang="en-US" altLang="en-US" sz="2400" b="0" i="0" u="none" strike="noStrike" cap="none" normalizeH="0" baseline="0" dirty="0">
                <a:ln>
                  <a:noFill/>
                </a:ln>
                <a:solidFill>
                  <a:schemeClr val="tx1"/>
                </a:solidFill>
                <a:effectLst/>
                <a:latin typeface="Arial" panose="020B0604020202020204" pitchFamily="34" charset="0"/>
              </a:rPr>
              <a:t> datasets offer a broad range of news articles, allowing us to train robust models for detecting misinformation. </a:t>
            </a:r>
            <a:br>
              <a:rPr kumimoji="0" lang="en-US" altLang="en-US" sz="2400" b="0" i="0" u="none" strike="noStrike" cap="none" normalizeH="0" baseline="0" dirty="0">
                <a:ln>
                  <a:noFill/>
                </a:ln>
                <a:solidFill>
                  <a:schemeClr val="tx1"/>
                </a:solidFill>
                <a:effectLst/>
                <a:latin typeface="Arial" panose="020B0604020202020204" pitchFamily="34" charset="0"/>
              </a:rPr>
            </a:br>
            <a:endParaRPr lang="en-IN" sz="2400" dirty="0"/>
          </a:p>
        </p:txBody>
      </p:sp>
    </p:spTree>
    <p:extLst>
      <p:ext uri="{BB962C8B-B14F-4D97-AF65-F5344CB8AC3E}">
        <p14:creationId xmlns:p14="http://schemas.microsoft.com/office/powerpoint/2010/main" val="3513334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9FD04-7397-B7B7-1676-17A290A178AD}"/>
              </a:ext>
            </a:extLst>
          </p:cNvPr>
          <p:cNvSpPr>
            <a:spLocks noGrp="1"/>
          </p:cNvSpPr>
          <p:nvPr>
            <p:ph type="title"/>
          </p:nvPr>
        </p:nvSpPr>
        <p:spPr>
          <a:xfrm>
            <a:off x="1168138" y="1118271"/>
            <a:ext cx="10144760" cy="5436235"/>
          </a:xfrm>
        </p:spPr>
        <p:txBody>
          <a:bodyPr>
            <a:noAutofit/>
          </a:bodyPr>
          <a:lstStyle/>
          <a:p>
            <a:pPr marL="0" marR="0" lvl="0" indent="0" algn="l" defTabSz="914400" rtl="0" eaLnBrk="0" fontAlgn="base" latinLnBrk="0" hangingPunct="0">
              <a:lnSpc>
                <a:spcPct val="100000"/>
              </a:lnSpc>
              <a:spcBef>
                <a:spcPct val="0"/>
              </a:spcBef>
              <a:spcAft>
                <a:spcPct val="0"/>
              </a:spcAft>
              <a:buClrTx/>
              <a:buSzTx/>
              <a:tabLst/>
            </a:pPr>
            <a:r>
              <a:rPr lang="en-IN" sz="4000" b="1" dirty="0"/>
              <a:t>Model Architecture and Techniques</a:t>
            </a:r>
            <a:br>
              <a:rPr lang="en-IN" sz="1800" b="1" dirty="0"/>
            </a:br>
            <a:br>
              <a:rPr lang="en-IN" sz="1800" dirty="0"/>
            </a:br>
            <a:r>
              <a:rPr kumimoji="0" lang="en-US" altLang="en-US" sz="1800" b="1" i="0" u="none" strike="noStrike" cap="none" normalizeH="0" baseline="0" dirty="0">
                <a:ln>
                  <a:noFill/>
                </a:ln>
                <a:solidFill>
                  <a:schemeClr val="tx1"/>
                </a:solidFill>
                <a:effectLst/>
                <a:latin typeface="Arial" panose="020B0604020202020204" pitchFamily="34" charset="0"/>
              </a:rPr>
              <a:t>Text Cleaning Pipeline: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Lowercasing:</a:t>
            </a:r>
            <a:r>
              <a:rPr kumimoji="0" lang="en-US" altLang="en-US" sz="1800" b="0" i="0" u="none" strike="noStrike" cap="none" normalizeH="0" baseline="0" dirty="0">
                <a:ln>
                  <a:noFill/>
                </a:ln>
                <a:solidFill>
                  <a:schemeClr val="tx1"/>
                </a:solidFill>
                <a:effectLst/>
                <a:latin typeface="Arial" panose="020B0604020202020204" pitchFamily="34" charset="0"/>
              </a:rPr>
              <a:t> Converts text to lowercase.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Remove Special Characters:</a:t>
            </a:r>
            <a:r>
              <a:rPr kumimoji="0" lang="en-US" altLang="en-US" sz="1800" b="0" i="0" u="none" strike="noStrike" cap="none" normalizeH="0" baseline="0" dirty="0">
                <a:ln>
                  <a:noFill/>
                </a:ln>
                <a:solidFill>
                  <a:schemeClr val="tx1"/>
                </a:solidFill>
                <a:effectLst/>
                <a:latin typeface="Arial" panose="020B0604020202020204" pitchFamily="34" charset="0"/>
              </a:rPr>
              <a:t> Removes non-word characters.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Remove URLs:</a:t>
            </a:r>
            <a:r>
              <a:rPr kumimoji="0" lang="en-US" altLang="en-US" sz="1800" b="0" i="0" u="none" strike="noStrike" cap="none" normalizeH="0" baseline="0" dirty="0">
                <a:ln>
                  <a:noFill/>
                </a:ln>
                <a:solidFill>
                  <a:schemeClr val="tx1"/>
                </a:solidFill>
                <a:effectLst/>
                <a:latin typeface="Arial" panose="020B0604020202020204" pitchFamily="34" charset="0"/>
              </a:rPr>
              <a:t> Filters out links and websites.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Remove Punctuation:</a:t>
            </a:r>
            <a:r>
              <a:rPr kumimoji="0" lang="en-US" altLang="en-US" sz="1800" b="0" i="0" u="none" strike="noStrike" cap="none" normalizeH="0" baseline="0" dirty="0">
                <a:ln>
                  <a:noFill/>
                </a:ln>
                <a:solidFill>
                  <a:schemeClr val="tx1"/>
                </a:solidFill>
                <a:effectLst/>
                <a:latin typeface="Arial" panose="020B0604020202020204" pitchFamily="34" charset="0"/>
              </a:rPr>
              <a:t> Strips punctuation marks.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Remove HTML Tags:</a:t>
            </a:r>
            <a:r>
              <a:rPr kumimoji="0" lang="en-US" altLang="en-US" sz="1800" b="0" i="0" u="none" strike="noStrike" cap="none" normalizeH="0" baseline="0" dirty="0">
                <a:ln>
                  <a:noFill/>
                </a:ln>
                <a:solidFill>
                  <a:schemeClr val="tx1"/>
                </a:solidFill>
                <a:effectLst/>
                <a:latin typeface="Arial" panose="020B0604020202020204" pitchFamily="34" charset="0"/>
              </a:rPr>
              <a:t> Cleans HTML elements (e.g., </a:t>
            </a:r>
            <a:r>
              <a:rPr kumimoji="0" lang="en-US" altLang="en-US" sz="1800" b="0" i="0" u="none" strike="noStrike" cap="none" normalizeH="0" baseline="0" dirty="0">
                <a:ln>
                  <a:noFill/>
                </a:ln>
                <a:solidFill>
                  <a:schemeClr val="tx1"/>
                </a:solidFill>
                <a:effectLst/>
                <a:latin typeface="Arial Unicode MS" panose="020B0604020202020204" pitchFamily="34" charset="-128"/>
              </a:rPr>
              <a:t>&lt;div&gt;</a:t>
            </a:r>
            <a:r>
              <a:rPr kumimoji="0" lang="en-US" altLang="en-US" sz="1800" b="0" i="0" u="none" strike="noStrike" cap="none" normalizeH="0" baseline="0" dirty="0">
                <a:ln>
                  <a:noFill/>
                </a:ln>
                <a:solidFill>
                  <a:schemeClr val="tx1"/>
                </a:solidFill>
                <a:effectLst/>
              </a:rPr>
              <a: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Remove Numbers:</a:t>
            </a:r>
            <a:r>
              <a:rPr kumimoji="0" lang="en-US" altLang="en-US" sz="1800" b="0" i="0" u="none" strike="noStrike" cap="none" normalizeH="0" baseline="0" dirty="0">
                <a:ln>
                  <a:noFill/>
                </a:ln>
                <a:solidFill>
                  <a:schemeClr val="tx1"/>
                </a:solidFill>
                <a:effectLst/>
                <a:latin typeface="Arial" panose="020B0604020202020204" pitchFamily="34" charset="0"/>
              </a:rPr>
              <a:t> Eliminates numerical values.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Remove Newlines:</a:t>
            </a:r>
            <a:r>
              <a:rPr kumimoji="0" lang="en-US" altLang="en-US" sz="1800" b="0" i="0" u="none" strike="noStrike" cap="none" normalizeH="0" baseline="0" dirty="0">
                <a:ln>
                  <a:noFill/>
                </a:ln>
                <a:solidFill>
                  <a:schemeClr val="tx1"/>
                </a:solidFill>
                <a:effectLst/>
                <a:latin typeface="Arial" panose="020B0604020202020204" pitchFamily="34" charset="0"/>
              </a:rPr>
              <a:t> Flattens text into a single block.</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Optional:</a:t>
            </a:r>
            <a:r>
              <a:rPr kumimoji="0" lang="en-US" altLang="en-US" sz="1800" b="0" i="0" u="none" strike="noStrike" cap="none" normalizeH="0" baseline="0" dirty="0">
                <a:ln>
                  <a:noFill/>
                </a:ln>
                <a:solidFill>
                  <a:schemeClr val="tx1"/>
                </a:solidFill>
                <a:effectLst/>
                <a:latin typeface="Arial" panose="020B0604020202020204" pitchFamily="34" charset="0"/>
              </a:rPr>
              <a:t> Removes </a:t>
            </a:r>
            <a:r>
              <a:rPr kumimoji="0" lang="en-US" altLang="en-US" sz="1800" b="0" i="0" u="none" strike="noStrike" cap="none" normalizeH="0" baseline="0" dirty="0" err="1">
                <a:ln>
                  <a:noFill/>
                </a:ln>
                <a:solidFill>
                  <a:schemeClr val="tx1"/>
                </a:solidFill>
                <a:effectLst/>
                <a:latin typeface="Arial" panose="020B0604020202020204" pitchFamily="34" charset="0"/>
              </a:rPr>
              <a:t>stopwords</a:t>
            </a:r>
            <a:r>
              <a:rPr kumimoji="0" lang="en-US" altLang="en-US" sz="1800" b="0" i="0" u="none" strike="noStrike" cap="none" normalizeH="0" baseline="0" dirty="0">
                <a:ln>
                  <a:noFill/>
                </a:ln>
                <a:solidFill>
                  <a:schemeClr val="tx1"/>
                </a:solidFill>
                <a:effectLst/>
                <a:latin typeface="Arial" panose="020B0604020202020204" pitchFamily="34" charset="0"/>
              </a:rPr>
              <a:t> (like "and," "the").</a:t>
            </a:r>
            <a:br>
              <a:rPr kumimoji="0" lang="en-US" altLang="en-US" sz="1800" b="0" i="0" u="none" strike="noStrike" cap="none" normalizeH="0" baseline="0" dirty="0">
                <a:ln>
                  <a:noFill/>
                </a:ln>
                <a:solidFill>
                  <a:schemeClr val="tx1"/>
                </a:solidFill>
                <a:effectLst/>
                <a:latin typeface="Arial" panose="020B0604020202020204" pitchFamily="34" charset="0"/>
              </a:rPr>
            </a:b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NLP Techniques Used:</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TF-IDF (Term Frequency-Inverse Document Frequency):</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Weighs word importance based on frequency across documents.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Bag of Words (</a:t>
            </a:r>
            <a:r>
              <a:rPr kumimoji="0" lang="en-US" altLang="en-US" sz="1800" b="1" i="0" u="none" strike="noStrike" cap="none" normalizeH="0" baseline="0" dirty="0" err="1">
                <a:ln>
                  <a:noFill/>
                </a:ln>
                <a:solidFill>
                  <a:schemeClr val="tx1"/>
                </a:solidFill>
                <a:effectLst/>
                <a:latin typeface="Arial" panose="020B0604020202020204" pitchFamily="34" charset="0"/>
              </a:rPr>
              <a:t>BoW</a:t>
            </a:r>
            <a:r>
              <a:rPr kumimoji="0" lang="en-US" altLang="en-US" sz="1800" b="1" i="0" u="none" strike="noStrike" cap="none" normalizeH="0" baseline="0" dirty="0">
                <a:ln>
                  <a:noFill/>
                </a:ln>
                <a:solidFill>
                  <a:schemeClr val="tx1"/>
                </a:solidFill>
                <a:effectLst/>
                <a:latin typeface="Arial" panose="020B0604020202020204" pitchFamily="34" charset="0"/>
              </a:rPr>
              <a: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Represents text as a vector of word counts.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N-grams: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Extracts consecutive word combinations (e.g., bi-grams).</a:t>
            </a:r>
            <a:br>
              <a:rPr kumimoji="0" lang="en-US" altLang="en-US" sz="1800" b="0" i="0" u="none" strike="noStrike" cap="none" normalizeH="0" baseline="0" dirty="0">
                <a:ln>
                  <a:noFill/>
                </a:ln>
                <a:solidFill>
                  <a:schemeClr val="tx1"/>
                </a:solidFill>
                <a:effectLst/>
                <a:latin typeface="Arial" panose="020B0604020202020204" pitchFamily="34" charset="0"/>
              </a:rPr>
            </a:br>
            <a:br>
              <a:rPr lang="en-IN" sz="1800" dirty="0"/>
            </a:br>
            <a:br>
              <a:rPr lang="en-IN" sz="1800" dirty="0"/>
            </a:br>
            <a:br>
              <a:rPr lang="en-IN" sz="1800" dirty="0"/>
            </a:br>
            <a:br>
              <a:rPr kumimoji="0" lang="en-US" altLang="en-US" sz="1800" b="0" i="0" u="none" strike="noStrike" cap="none" normalizeH="0" baseline="0" dirty="0">
                <a:ln>
                  <a:noFill/>
                </a:ln>
                <a:solidFill>
                  <a:schemeClr val="tx1"/>
                </a:solidFill>
                <a:effectLst/>
                <a:latin typeface="Arial" panose="020B0604020202020204" pitchFamily="34" charset="0"/>
              </a:rPr>
            </a:br>
            <a:br>
              <a:rPr kumimoji="0" lang="en-US" altLang="en-US" sz="1800" b="0" i="0" u="none" strike="noStrike" cap="none" normalizeH="0" baseline="0" dirty="0">
                <a:ln>
                  <a:noFill/>
                </a:ln>
                <a:solidFill>
                  <a:schemeClr val="tx1"/>
                </a:solidFill>
                <a:effectLst/>
                <a:latin typeface="Arial" panose="020B0604020202020204" pitchFamily="34" charset="0"/>
              </a:rPr>
            </a:br>
            <a:endParaRPr lang="en-IN" sz="1800" dirty="0"/>
          </a:p>
        </p:txBody>
      </p:sp>
    </p:spTree>
    <p:extLst>
      <p:ext uri="{BB962C8B-B14F-4D97-AF65-F5344CB8AC3E}">
        <p14:creationId xmlns:p14="http://schemas.microsoft.com/office/powerpoint/2010/main" val="346177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CBA16-A454-FFAB-311A-2329A1E700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D84C7B-1FA7-3C49-6A50-A91B753F19FE}"/>
              </a:ext>
            </a:extLst>
          </p:cNvPr>
          <p:cNvSpPr>
            <a:spLocks noGrp="1"/>
          </p:cNvSpPr>
          <p:nvPr>
            <p:ph type="title"/>
          </p:nvPr>
        </p:nvSpPr>
        <p:spPr>
          <a:xfrm>
            <a:off x="1168138" y="1118271"/>
            <a:ext cx="10144760" cy="5436235"/>
          </a:xfrm>
        </p:spPr>
        <p:txBody>
          <a:bodyPr>
            <a:noAutofit/>
          </a:bodyPr>
          <a:lstStyle/>
          <a:p>
            <a:r>
              <a:rPr lang="en-IN" sz="4000" dirty="0"/>
              <a:t>Models Trained:</a:t>
            </a:r>
            <a:br>
              <a:rPr lang="en-IN" sz="1800" b="1" dirty="0"/>
            </a:br>
            <a:br>
              <a:rPr lang="en-US" dirty="0"/>
            </a:br>
            <a:r>
              <a:rPr lang="en-US" sz="2800" b="1" dirty="0"/>
              <a:t>Logistic Regression</a:t>
            </a:r>
            <a:br>
              <a:rPr lang="en-US" sz="2800" dirty="0"/>
            </a:br>
            <a:r>
              <a:rPr lang="en-US" sz="2800" b="1" dirty="0"/>
              <a:t>Support Vector Machine (SVM)</a:t>
            </a:r>
            <a:br>
              <a:rPr lang="en-US" sz="2800" dirty="0"/>
            </a:br>
            <a:r>
              <a:rPr lang="en-US" sz="2800" b="1" dirty="0"/>
              <a:t>Naive Bayes</a:t>
            </a:r>
            <a:br>
              <a:rPr lang="en-US" sz="2800" dirty="0"/>
            </a:br>
            <a:r>
              <a:rPr lang="en-US" sz="2800" b="1" dirty="0"/>
              <a:t>Random Forest</a:t>
            </a:r>
            <a:br>
              <a:rPr lang="en-US" sz="2800" b="1" dirty="0"/>
            </a:br>
            <a:br>
              <a:rPr lang="en-US" sz="2800" dirty="0"/>
            </a:br>
            <a:r>
              <a:rPr lang="en-US" sz="2800" dirty="0"/>
              <a:t>These methods ensure the text is clean, and feature extraction helps the model predict whether the news is real or fake.</a:t>
            </a:r>
            <a:br>
              <a:rPr lang="en-US" dirty="0"/>
            </a:br>
            <a:br>
              <a:rPr lang="en-IN" sz="1800" dirty="0"/>
            </a:br>
            <a:br>
              <a:rPr lang="en-IN" sz="1800" dirty="0"/>
            </a:br>
            <a:br>
              <a:rPr lang="en-IN" sz="1800" dirty="0"/>
            </a:br>
            <a:br>
              <a:rPr kumimoji="0" lang="en-US" altLang="en-US" sz="1800" b="0" i="0" u="none" strike="noStrike" cap="none" normalizeH="0" baseline="0" dirty="0">
                <a:ln>
                  <a:noFill/>
                </a:ln>
                <a:solidFill>
                  <a:schemeClr val="tx1"/>
                </a:solidFill>
                <a:effectLst/>
                <a:latin typeface="Arial" panose="020B0604020202020204" pitchFamily="34" charset="0"/>
              </a:rPr>
            </a:br>
            <a:br>
              <a:rPr kumimoji="0" lang="en-US" altLang="en-US" sz="1800" b="0" i="0" u="none" strike="noStrike" cap="none" normalizeH="0" baseline="0" dirty="0">
                <a:ln>
                  <a:noFill/>
                </a:ln>
                <a:solidFill>
                  <a:schemeClr val="tx1"/>
                </a:solidFill>
                <a:effectLst/>
                <a:latin typeface="Arial" panose="020B0604020202020204" pitchFamily="34" charset="0"/>
              </a:rPr>
            </a:br>
            <a:endParaRPr lang="en-IN" sz="1800" dirty="0"/>
          </a:p>
        </p:txBody>
      </p:sp>
    </p:spTree>
    <p:extLst>
      <p:ext uri="{BB962C8B-B14F-4D97-AF65-F5344CB8AC3E}">
        <p14:creationId xmlns:p14="http://schemas.microsoft.com/office/powerpoint/2010/main" val="3682612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2282D830-4E11-DBE5-F96A-25FE8D6E4B65}"/>
              </a:ext>
            </a:extLst>
          </p:cNvPr>
          <p:cNvSpPr>
            <a:spLocks noGrp="1" noChangeArrowheads="1"/>
          </p:cNvSpPr>
          <p:nvPr>
            <p:ph type="title"/>
          </p:nvPr>
        </p:nvSpPr>
        <p:spPr bwMode="auto">
          <a:xfrm>
            <a:off x="952108" y="628233"/>
            <a:ext cx="10473180" cy="560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1" i="0" u="none" strike="noStrike" cap="none" normalizeH="0" baseline="0" dirty="0">
                <a:ln>
                  <a:noFill/>
                </a:ln>
                <a:solidFill>
                  <a:schemeClr val="tx1"/>
                </a:solidFill>
                <a:effectLst/>
                <a:latin typeface="Arial" panose="020B0604020202020204" pitchFamily="34" charset="0"/>
              </a:rPr>
              <a:t>Modern Fake News Detection Method:</a:t>
            </a:r>
            <a:br>
              <a:rPr kumimoji="0" lang="en-US" altLang="en-US" sz="1600" b="1" i="0" u="none" strike="noStrike" cap="none" normalizeH="0" baseline="0" dirty="0">
                <a:ln>
                  <a:noFill/>
                </a:ln>
                <a:solidFill>
                  <a:schemeClr val="tx1"/>
                </a:solidFill>
                <a:effectLst/>
                <a:latin typeface="Arial" panose="020B0604020202020204" pitchFamily="34" charset="0"/>
              </a:rPr>
            </a:b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Overview:</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This method uses </a:t>
            </a:r>
            <a:r>
              <a:rPr kumimoji="0" lang="en-US" altLang="en-US" b="1" i="0" u="none" strike="noStrike" cap="none" normalizeH="0" baseline="0" dirty="0">
                <a:ln>
                  <a:noFill/>
                </a:ln>
                <a:solidFill>
                  <a:schemeClr val="tx1"/>
                </a:solidFill>
                <a:effectLst/>
                <a:latin typeface="Arial" panose="020B0604020202020204" pitchFamily="34" charset="0"/>
              </a:rPr>
              <a:t>state-of-the-art transformer models</a:t>
            </a:r>
            <a:r>
              <a:rPr kumimoji="0" lang="en-US" altLang="en-US" b="0" i="0" u="none" strike="noStrike" cap="none" normalizeH="0" baseline="0" dirty="0">
                <a:ln>
                  <a:noFill/>
                </a:ln>
                <a:solidFill>
                  <a:schemeClr val="tx1"/>
                </a:solidFill>
                <a:effectLst/>
                <a:latin typeface="Arial" panose="020B0604020202020204" pitchFamily="34" charset="0"/>
              </a:rPr>
              <a:t> and </a:t>
            </a:r>
            <a:r>
              <a:rPr kumimoji="0" lang="en-US" altLang="en-US" b="1" i="0" u="none" strike="noStrike" cap="none" normalizeH="0" baseline="0" dirty="0">
                <a:ln>
                  <a:noFill/>
                </a:ln>
                <a:solidFill>
                  <a:schemeClr val="tx1"/>
                </a:solidFill>
                <a:effectLst/>
                <a:latin typeface="Arial" panose="020B0604020202020204" pitchFamily="34" charset="0"/>
              </a:rPr>
              <a:t>API integrations</a:t>
            </a:r>
            <a:r>
              <a:rPr kumimoji="0" lang="en-US" altLang="en-US" b="0" i="0" u="none" strike="noStrike" cap="none" normalizeH="0" baseline="0" dirty="0">
                <a:ln>
                  <a:noFill/>
                </a:ln>
                <a:solidFill>
                  <a:schemeClr val="tx1"/>
                </a:solidFill>
                <a:effectLst/>
                <a:latin typeface="Arial" panose="020B0604020202020204" pitchFamily="34" charset="0"/>
              </a:rPr>
              <a:t> to improve the accuracy and reliability of fake news detection.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In addition to text analysis, it leverages </a:t>
            </a:r>
            <a:r>
              <a:rPr kumimoji="0" lang="en-US" altLang="en-US" b="1" i="0" u="none" strike="noStrike" cap="none" normalizeH="0" baseline="0" dirty="0">
                <a:ln>
                  <a:noFill/>
                </a:ln>
                <a:solidFill>
                  <a:schemeClr val="tx1"/>
                </a:solidFill>
                <a:effectLst/>
                <a:latin typeface="Arial" panose="020B0604020202020204" pitchFamily="34" charset="0"/>
              </a:rPr>
              <a:t>Google Search</a:t>
            </a:r>
            <a:r>
              <a:rPr kumimoji="0" lang="en-US" altLang="en-US" b="0" i="0" u="none" strike="noStrike" cap="none" normalizeH="0" baseline="0" dirty="0">
                <a:ln>
                  <a:noFill/>
                </a:ln>
                <a:solidFill>
                  <a:schemeClr val="tx1"/>
                </a:solidFill>
                <a:effectLst/>
                <a:latin typeface="Arial" panose="020B0604020202020204" pitchFamily="34" charset="0"/>
              </a:rPr>
              <a:t> and </a:t>
            </a:r>
            <a:r>
              <a:rPr kumimoji="0" lang="en-US" altLang="en-US" b="1" i="0" u="none" strike="noStrike" cap="none" normalizeH="0" baseline="0" dirty="0">
                <a:ln>
                  <a:noFill/>
                </a:ln>
                <a:solidFill>
                  <a:schemeClr val="tx1"/>
                </a:solidFill>
                <a:effectLst/>
                <a:latin typeface="Arial" panose="020B0604020202020204" pitchFamily="34" charset="0"/>
              </a:rPr>
              <a:t>PolitiFact fact-checks</a:t>
            </a:r>
            <a:r>
              <a:rPr kumimoji="0" lang="en-US" altLang="en-US" b="0" i="0" u="none" strike="noStrike" cap="none" normalizeH="0" baseline="0" dirty="0">
                <a:ln>
                  <a:noFill/>
                </a:ln>
                <a:solidFill>
                  <a:schemeClr val="tx1"/>
                </a:solidFill>
                <a:effectLst/>
                <a:latin typeface="Arial" panose="020B0604020202020204" pitchFamily="34" charset="0"/>
              </a:rPr>
              <a:t> for real-time verification.</a:t>
            </a:r>
            <a:br>
              <a:rPr kumimoji="0" lang="en-US" altLang="en-US" sz="1600" b="0" i="0" u="none" strike="noStrike" cap="none" normalizeH="0" baseline="0" dirty="0">
                <a:ln>
                  <a:noFill/>
                </a:ln>
                <a:solidFill>
                  <a:schemeClr val="tx1"/>
                </a:solidFill>
                <a:effectLst/>
                <a:latin typeface="Arial" panose="020B0604020202020204" pitchFamily="34" charset="0"/>
              </a:rPr>
            </a:b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dirty="0">
                <a:ln>
                  <a:noFill/>
                </a:ln>
                <a:solidFill>
                  <a:schemeClr val="tx1"/>
                </a:solidFill>
                <a:effectLst/>
                <a:latin typeface="Arial" panose="020B0604020202020204" pitchFamily="34" charset="0"/>
              </a:rPr>
              <a:t>Key Components: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Transformer Model:</a:t>
            </a:r>
            <a:endParaRPr kumimoji="0" lang="en-US" altLang="en-US" b="0" i="0" u="none" strike="noStrike" cap="none" normalizeH="0" baseline="0" dirty="0">
              <a:ln>
                <a:noFill/>
              </a:ln>
              <a:solidFill>
                <a:schemeClr val="tx1"/>
              </a:solidFill>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Model:</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Unicode MS" panose="020B0604020202020204" pitchFamily="34" charset="-128"/>
              </a:rPr>
              <a:t>RoBERTa</a:t>
            </a:r>
            <a:r>
              <a:rPr kumimoji="0" lang="en-US" altLang="en-US" b="0" i="0" u="none" strike="noStrike" cap="none" normalizeH="0" baseline="0" dirty="0">
                <a:ln>
                  <a:noFill/>
                </a:ln>
                <a:solidFill>
                  <a:schemeClr val="tx1"/>
                </a:solidFill>
                <a:effectLst/>
              </a:rPr>
              <a:t> (a robustly optimized BERT variant) fine-tuned for fake news classification.</a:t>
            </a:r>
            <a:endParaRPr kumimoji="0" lang="en-US" altLang="en-US" b="0" i="0" u="none" strike="noStrike" cap="none" normalizeH="0" baseline="0" dirty="0">
              <a:ln>
                <a:noFill/>
              </a:ln>
              <a:solidFill>
                <a:schemeClr val="tx1"/>
              </a:solidFill>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How it works:</a:t>
            </a:r>
            <a:r>
              <a:rPr kumimoji="0" lang="en-US" altLang="en-US" b="0" i="0" u="none" strike="noStrike" cap="none" normalizeH="0" baseline="0" dirty="0">
                <a:ln>
                  <a:noFill/>
                </a:ln>
                <a:solidFill>
                  <a:schemeClr val="tx1"/>
                </a:solidFill>
                <a:effectLst/>
                <a:latin typeface="Arial" panose="020B0604020202020204" pitchFamily="34" charset="0"/>
              </a:rPr>
              <a:t> Takes both the </a:t>
            </a:r>
            <a:r>
              <a:rPr kumimoji="0" lang="en-US" altLang="en-US" b="1" i="0" u="none" strike="noStrike" cap="none" normalizeH="0" baseline="0" dirty="0">
                <a:ln>
                  <a:noFill/>
                </a:ln>
                <a:solidFill>
                  <a:schemeClr val="tx1"/>
                </a:solidFill>
                <a:effectLst/>
                <a:latin typeface="Arial" panose="020B0604020202020204" pitchFamily="34" charset="0"/>
              </a:rPr>
              <a:t>headline and content</a:t>
            </a:r>
            <a:r>
              <a:rPr kumimoji="0" lang="en-US" altLang="en-US" b="0" i="0" u="none" strike="noStrike" cap="none" normalizeH="0" baseline="0" dirty="0">
                <a:ln>
                  <a:noFill/>
                </a:ln>
                <a:solidFill>
                  <a:schemeClr val="tx1"/>
                </a:solidFill>
                <a:effectLst/>
                <a:latin typeface="Arial" panose="020B0604020202020204" pitchFamily="34" charset="0"/>
              </a:rPr>
              <a:t> as input and provides probabilities for </a:t>
            </a:r>
            <a:r>
              <a:rPr kumimoji="0" lang="en-US" altLang="en-US" b="1" i="0" u="none" strike="noStrike" cap="none" normalizeH="0" baseline="0" dirty="0">
                <a:ln>
                  <a:noFill/>
                </a:ln>
                <a:solidFill>
                  <a:schemeClr val="tx1"/>
                </a:solidFill>
                <a:effectLst/>
                <a:latin typeface="Arial" panose="020B0604020202020204" pitchFamily="34" charset="0"/>
              </a:rPr>
              <a:t>fake</a:t>
            </a:r>
            <a:r>
              <a:rPr kumimoji="0" lang="en-US" altLang="en-US" b="0" i="0" u="none" strike="noStrike" cap="none" normalizeH="0" baseline="0" dirty="0">
                <a:ln>
                  <a:noFill/>
                </a:ln>
                <a:solidFill>
                  <a:schemeClr val="tx1"/>
                </a:solidFill>
                <a:effectLst/>
                <a:latin typeface="Arial" panose="020B0604020202020204" pitchFamily="34" charset="0"/>
              </a:rPr>
              <a:t> and </a:t>
            </a:r>
            <a:r>
              <a:rPr kumimoji="0" lang="en-US" altLang="en-US" b="1" i="0" u="none" strike="noStrike" cap="none" normalizeH="0" baseline="0" dirty="0">
                <a:ln>
                  <a:noFill/>
                </a:ln>
                <a:solidFill>
                  <a:schemeClr val="tx1"/>
                </a:solidFill>
                <a:effectLst/>
                <a:latin typeface="Arial" panose="020B0604020202020204" pitchFamily="34" charset="0"/>
              </a:rPr>
              <a:t>real news</a:t>
            </a:r>
            <a:r>
              <a:rPr kumimoji="0" lang="en-US" altLang="en-US"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API Integrations:</a:t>
            </a:r>
            <a:endParaRPr kumimoji="0" lang="en-US" altLang="en-US" b="0" i="0" u="none" strike="noStrike" cap="none" normalizeH="0" baseline="0" dirty="0">
              <a:ln>
                <a:noFill/>
              </a:ln>
              <a:solidFill>
                <a:schemeClr val="tx1"/>
              </a:solidFill>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Google Search API:</a:t>
            </a:r>
            <a:r>
              <a:rPr kumimoji="0" lang="en-US" altLang="en-US" b="0" i="0" u="none" strike="noStrike" cap="none" normalizeH="0" baseline="0" dirty="0">
                <a:ln>
                  <a:noFill/>
                </a:ln>
                <a:solidFill>
                  <a:schemeClr val="tx1"/>
                </a:solidFill>
                <a:effectLst/>
                <a:latin typeface="Arial" panose="020B0604020202020204" pitchFamily="34" charset="0"/>
              </a:rPr>
              <a:t> Searches for similar articles from </a:t>
            </a:r>
            <a:r>
              <a:rPr kumimoji="0" lang="en-US" altLang="en-US" b="1" i="0" u="none" strike="noStrike" cap="none" normalizeH="0" baseline="0" dirty="0">
                <a:ln>
                  <a:noFill/>
                </a:ln>
                <a:solidFill>
                  <a:schemeClr val="tx1"/>
                </a:solidFill>
                <a:effectLst/>
                <a:latin typeface="Arial" panose="020B0604020202020204" pitchFamily="34" charset="0"/>
              </a:rPr>
              <a:t>trusted sources</a:t>
            </a:r>
            <a:r>
              <a:rPr kumimoji="0" lang="en-US" altLang="en-US" b="0" i="0" u="none" strike="noStrike" cap="none" normalizeH="0" baseline="0" dirty="0">
                <a:ln>
                  <a:noFill/>
                </a:ln>
                <a:solidFill>
                  <a:schemeClr val="tx1"/>
                </a:solidFill>
                <a:effectLst/>
                <a:latin typeface="Arial" panose="020B0604020202020204" pitchFamily="34" charset="0"/>
              </a:rPr>
              <a:t> (e.g., BBC) based on the headline.</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PolitiFact Fact-Check Scraper:</a:t>
            </a:r>
            <a:r>
              <a:rPr kumimoji="0" lang="en-US" altLang="en-US" b="0" i="0" u="none" strike="noStrike" cap="none" normalizeH="0" baseline="0" dirty="0">
                <a:ln>
                  <a:noFill/>
                </a:ln>
                <a:solidFill>
                  <a:schemeClr val="tx1"/>
                </a:solidFill>
                <a:effectLst/>
                <a:latin typeface="Arial" panose="020B0604020202020204" pitchFamily="34" charset="0"/>
              </a:rPr>
              <a:t> Fetches the latest fact-check articles for validation.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83516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4F5D1-49B0-7D9F-FA4B-AF0036D0098D}"/>
              </a:ext>
            </a:extLst>
          </p:cNvPr>
          <p:cNvSpPr>
            <a:spLocks noGrp="1"/>
          </p:cNvSpPr>
          <p:nvPr>
            <p:ph type="title"/>
          </p:nvPr>
        </p:nvSpPr>
        <p:spPr>
          <a:xfrm>
            <a:off x="838200" y="365125"/>
            <a:ext cx="10515600" cy="6186504"/>
          </a:xfrm>
        </p:spPr>
        <p:txBody>
          <a:bodyPr>
            <a:normAutofit/>
          </a:bodyPr>
          <a:lstStyle/>
          <a:p>
            <a:r>
              <a:rPr lang="en-US" sz="4000" b="1" dirty="0"/>
              <a:t>NLP Techniques Used:</a:t>
            </a:r>
            <a:br>
              <a:rPr lang="en-US" sz="4000" b="1" dirty="0"/>
            </a:br>
            <a:br>
              <a:rPr lang="en-US" sz="2800" dirty="0"/>
            </a:br>
            <a:r>
              <a:rPr lang="en-US" sz="2800" b="1" dirty="0"/>
              <a:t>Tokenization:</a:t>
            </a:r>
            <a:br>
              <a:rPr lang="en-US" sz="2800" dirty="0"/>
            </a:br>
            <a:r>
              <a:rPr lang="en-US" sz="2800" dirty="0"/>
              <a:t>The text is broken into smaller units (tokens) using the </a:t>
            </a:r>
            <a:r>
              <a:rPr lang="en-US" sz="2800" b="1" dirty="0"/>
              <a:t>Hugging Face tokenizer</a:t>
            </a:r>
            <a:r>
              <a:rPr lang="en-US" sz="2800" dirty="0"/>
              <a:t>.</a:t>
            </a:r>
            <a:br>
              <a:rPr lang="en-US" sz="2800" dirty="0"/>
            </a:br>
            <a:r>
              <a:rPr lang="en-US" sz="2800" dirty="0"/>
              <a:t>Example: "Breaking news from NASA" → ["Breaking", "news", "from", "NASA"]</a:t>
            </a:r>
            <a:br>
              <a:rPr lang="en-US" sz="2800" dirty="0"/>
            </a:br>
            <a:r>
              <a:rPr lang="en-US" sz="2800" b="1" dirty="0"/>
              <a:t>Text Embedding:</a:t>
            </a:r>
            <a:br>
              <a:rPr lang="en-US" sz="2800" dirty="0"/>
            </a:br>
            <a:r>
              <a:rPr lang="en-US" sz="2800" dirty="0"/>
              <a:t>Converts tokens into numerical vectors that are fed into the transformer model.</a:t>
            </a:r>
            <a:br>
              <a:rPr lang="en-US" sz="2800" dirty="0"/>
            </a:br>
            <a:r>
              <a:rPr lang="en-US" sz="2800" b="1" dirty="0" err="1"/>
              <a:t>Softmax</a:t>
            </a:r>
            <a:r>
              <a:rPr lang="en-US" sz="2800" b="1" dirty="0"/>
              <a:t> Layer:</a:t>
            </a:r>
            <a:br>
              <a:rPr lang="en-US" sz="2800" dirty="0"/>
            </a:br>
            <a:r>
              <a:rPr lang="en-US" sz="2800" dirty="0"/>
              <a:t>The model outputs probabilities for each class (Fake/Real) using the </a:t>
            </a:r>
            <a:r>
              <a:rPr lang="en-US" sz="2800" b="1" dirty="0" err="1"/>
              <a:t>softmax</a:t>
            </a:r>
            <a:r>
              <a:rPr lang="en-US" sz="2800" b="1" dirty="0"/>
              <a:t> function</a:t>
            </a:r>
            <a:r>
              <a:rPr lang="en-US" sz="2800" dirty="0"/>
              <a:t>.</a:t>
            </a:r>
            <a:br>
              <a:rPr lang="en-US" sz="2800" dirty="0"/>
            </a:br>
            <a:endParaRPr lang="en-IN" sz="2800" dirty="0"/>
          </a:p>
        </p:txBody>
      </p:sp>
    </p:spTree>
    <p:extLst>
      <p:ext uri="{BB962C8B-B14F-4D97-AF65-F5344CB8AC3E}">
        <p14:creationId xmlns:p14="http://schemas.microsoft.com/office/powerpoint/2010/main" val="1130962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A2D69-7E9D-5496-AD84-26906EDD9DE0}"/>
              </a:ext>
            </a:extLst>
          </p:cNvPr>
          <p:cNvSpPr>
            <a:spLocks noGrp="1"/>
          </p:cNvSpPr>
          <p:nvPr>
            <p:ph type="title"/>
          </p:nvPr>
        </p:nvSpPr>
        <p:spPr>
          <a:xfrm>
            <a:off x="838200" y="1056898"/>
            <a:ext cx="10515600" cy="4744203"/>
          </a:xfrm>
        </p:spPr>
        <p:txBody>
          <a:bodyPr>
            <a:noAutofit/>
          </a:bodyPr>
          <a:lstStyle/>
          <a:p>
            <a:r>
              <a:rPr lang="en-US" sz="4000" b="1" dirty="0"/>
              <a:t>How it Works:</a:t>
            </a:r>
            <a:br>
              <a:rPr lang="en-US" sz="2800" b="1" dirty="0"/>
            </a:br>
            <a:br>
              <a:rPr lang="en-US" sz="2800" dirty="0"/>
            </a:br>
            <a:r>
              <a:rPr lang="en-US" sz="2800" b="1" dirty="0"/>
              <a:t>Input:</a:t>
            </a:r>
            <a:r>
              <a:rPr lang="en-US" sz="2800" dirty="0"/>
              <a:t> The user provides both the </a:t>
            </a:r>
            <a:r>
              <a:rPr lang="en-US" sz="2800" b="1" dirty="0"/>
              <a:t>headline</a:t>
            </a:r>
            <a:r>
              <a:rPr lang="en-US" sz="2800" dirty="0"/>
              <a:t> and </a:t>
            </a:r>
            <a:r>
              <a:rPr lang="en-US" sz="2800" b="1" dirty="0"/>
              <a:t>content</a:t>
            </a:r>
            <a:r>
              <a:rPr lang="en-US" sz="2800" dirty="0"/>
              <a:t> of the news.</a:t>
            </a:r>
            <a:br>
              <a:rPr lang="en-US" sz="2800" dirty="0"/>
            </a:br>
            <a:br>
              <a:rPr lang="en-US" sz="2800" dirty="0"/>
            </a:br>
            <a:r>
              <a:rPr lang="en-US" sz="2800" b="1" dirty="0"/>
              <a:t>Model Prediction:</a:t>
            </a:r>
            <a:br>
              <a:rPr lang="en-US" sz="2800" dirty="0"/>
            </a:br>
            <a:r>
              <a:rPr lang="en-US" sz="2800" dirty="0"/>
              <a:t>The </a:t>
            </a:r>
            <a:r>
              <a:rPr lang="en-US" sz="2800" dirty="0" err="1"/>
              <a:t>RoBERTa</a:t>
            </a:r>
            <a:r>
              <a:rPr lang="en-US" sz="2800" dirty="0"/>
              <a:t> model outputs probabilities for </a:t>
            </a:r>
            <a:r>
              <a:rPr lang="en-US" sz="2800" b="1" dirty="0"/>
              <a:t>Fake News</a:t>
            </a:r>
            <a:r>
              <a:rPr lang="en-US" sz="2800" dirty="0"/>
              <a:t> and </a:t>
            </a:r>
            <a:r>
              <a:rPr lang="en-US" sz="2800" b="1" dirty="0"/>
              <a:t>Real News</a:t>
            </a:r>
            <a:r>
              <a:rPr lang="en-US" sz="2800" dirty="0"/>
              <a:t>.</a:t>
            </a:r>
            <a:br>
              <a:rPr lang="en-US" sz="2800" dirty="0"/>
            </a:br>
            <a:br>
              <a:rPr lang="en-US" sz="2800" dirty="0"/>
            </a:br>
            <a:r>
              <a:rPr lang="en-US" sz="2800" b="1" dirty="0"/>
              <a:t>Search &amp; Verification:</a:t>
            </a:r>
            <a:br>
              <a:rPr lang="en-US" sz="2800" dirty="0"/>
            </a:br>
            <a:r>
              <a:rPr lang="en-US" sz="2800" dirty="0"/>
              <a:t>If the news is predicted as </a:t>
            </a:r>
            <a:r>
              <a:rPr lang="en-US" sz="2800" b="1" dirty="0"/>
              <a:t>real</a:t>
            </a:r>
            <a:r>
              <a:rPr lang="en-US" sz="2800" dirty="0"/>
              <a:t>, the app:</a:t>
            </a:r>
            <a:br>
              <a:rPr lang="en-US" sz="2800" dirty="0"/>
            </a:br>
            <a:r>
              <a:rPr lang="en-US" sz="2800" b="1" dirty="0"/>
              <a:t>Google Search API:</a:t>
            </a:r>
            <a:r>
              <a:rPr lang="en-US" sz="2800" dirty="0"/>
              <a:t> Finds matching articles from reliable sources.</a:t>
            </a:r>
            <a:br>
              <a:rPr lang="en-US" sz="2800" dirty="0"/>
            </a:br>
            <a:r>
              <a:rPr lang="en-US" sz="2800" b="1" dirty="0"/>
              <a:t>PolitiFact Scraper:</a:t>
            </a:r>
            <a:r>
              <a:rPr lang="en-US" sz="2800" dirty="0"/>
              <a:t> Looks for relevant fact-checks.</a:t>
            </a:r>
            <a:br>
              <a:rPr lang="en-US" sz="2800" dirty="0"/>
            </a:br>
            <a:endParaRPr lang="en-IN" sz="2800" dirty="0"/>
          </a:p>
        </p:txBody>
      </p:sp>
    </p:spTree>
    <p:extLst>
      <p:ext uri="{BB962C8B-B14F-4D97-AF65-F5344CB8AC3E}">
        <p14:creationId xmlns:p14="http://schemas.microsoft.com/office/powerpoint/2010/main" val="21707516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2CBCFAE6-A572-8629-981A-E13BE172A603}"/>
              </a:ext>
            </a:extLst>
          </p:cNvPr>
          <p:cNvSpPr>
            <a:spLocks noGrp="1" noChangeArrowheads="1"/>
          </p:cNvSpPr>
          <p:nvPr>
            <p:ph type="title"/>
          </p:nvPr>
        </p:nvSpPr>
        <p:spPr bwMode="auto">
          <a:xfrm>
            <a:off x="901437" y="696557"/>
            <a:ext cx="10834933"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4000" b="1" i="0" u="none" strike="noStrike" cap="none" normalizeH="0" baseline="0" dirty="0">
                <a:ln>
                  <a:noFill/>
                </a:ln>
                <a:solidFill>
                  <a:schemeClr val="tx1"/>
                </a:solidFill>
                <a:effectLst/>
                <a:latin typeface="Arial" panose="020B0604020202020204" pitchFamily="34" charset="0"/>
              </a:rPr>
              <a:t>Advantages of Modern Method:</a:t>
            </a:r>
            <a:br>
              <a:rPr kumimoji="0" lang="en-US" altLang="en-US" sz="4000" b="1" i="0" u="none" strike="noStrike" cap="none" normalizeH="0" baseline="0" dirty="0">
                <a:ln>
                  <a:noFill/>
                </a:ln>
                <a:solidFill>
                  <a:schemeClr val="tx1"/>
                </a:solidFill>
                <a:effectLst/>
                <a:latin typeface="Arial" panose="020B0604020202020204" pitchFamily="34" charset="0"/>
              </a:rPr>
            </a:br>
            <a:endParaRPr kumimoji="0" lang="en-US" altLang="en-US"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Advanced Text Understanding: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RoBERTa</a:t>
            </a:r>
            <a:r>
              <a:rPr kumimoji="0" lang="en-US" altLang="en-US" sz="1800" b="0" i="0" u="none" strike="noStrike" cap="none" normalizeH="0" baseline="0" dirty="0">
                <a:ln>
                  <a:noFill/>
                </a:ln>
                <a:solidFill>
                  <a:schemeClr val="tx1"/>
                </a:solidFill>
                <a:effectLst/>
                <a:latin typeface="Arial" panose="020B0604020202020204" pitchFamily="34" charset="0"/>
              </a:rPr>
              <a:t> captures </a:t>
            </a:r>
            <a:r>
              <a:rPr kumimoji="0" lang="en-US" altLang="en-US" sz="1800" b="1" i="0" u="none" strike="noStrike" cap="none" normalizeH="0" baseline="0" dirty="0">
                <a:ln>
                  <a:noFill/>
                </a:ln>
                <a:solidFill>
                  <a:schemeClr val="tx1"/>
                </a:solidFill>
                <a:effectLst/>
                <a:latin typeface="Arial" panose="020B0604020202020204" pitchFamily="34" charset="0"/>
              </a:rPr>
              <a:t>contextual meanings</a:t>
            </a:r>
            <a:r>
              <a:rPr kumimoji="0" lang="en-US" altLang="en-US" sz="1800" b="0" i="0" u="none" strike="noStrike" cap="none" normalizeH="0" baseline="0" dirty="0">
                <a:ln>
                  <a:noFill/>
                </a:ln>
                <a:solidFill>
                  <a:schemeClr val="tx1"/>
                </a:solidFill>
                <a:effectLst/>
                <a:latin typeface="Arial" panose="020B0604020202020204" pitchFamily="34" charset="0"/>
              </a:rPr>
              <a:t> better than traditional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Real-Time Verification:</a:t>
            </a:r>
            <a:r>
              <a:rPr kumimoji="0" lang="en-US" altLang="en-US" sz="1800" b="0" i="0" u="none" strike="noStrike" cap="none" normalizeH="0" baseline="0" dirty="0">
                <a:ln>
                  <a:noFill/>
                </a:ln>
                <a:solidFill>
                  <a:schemeClr val="tx1"/>
                </a:solidFill>
                <a:effectLst/>
                <a:latin typeface="Arial" panose="020B0604020202020204" pitchFamily="34" charset="0"/>
              </a:rPr>
              <a:t> With </a:t>
            </a:r>
            <a:r>
              <a:rPr kumimoji="0" lang="en-US" altLang="en-US" sz="1800" b="1" i="0" u="none" strike="noStrike" cap="none" normalizeH="0" baseline="0" dirty="0">
                <a:ln>
                  <a:noFill/>
                </a:ln>
                <a:solidFill>
                  <a:schemeClr val="tx1"/>
                </a:solidFill>
                <a:effectLst/>
                <a:latin typeface="Arial" panose="020B0604020202020204" pitchFamily="34" charset="0"/>
              </a:rPr>
              <a:t>Google Search</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PolitiFact fact-checking</a:t>
            </a:r>
            <a:r>
              <a:rPr kumimoji="0" lang="en-US" altLang="en-US" sz="1800" b="0" i="0" u="none" strike="noStrike" cap="none" normalizeH="0" baseline="0" dirty="0">
                <a:ln>
                  <a:noFill/>
                </a:ln>
                <a:solidFill>
                  <a:schemeClr val="tx1"/>
                </a:solidFill>
                <a:effectLst/>
                <a:latin typeface="Arial" panose="020B0604020202020204" pitchFamily="34" charset="0"/>
              </a:rPr>
              <a:t>, the system provides </a:t>
            </a:r>
            <a:r>
              <a:rPr kumimoji="0" lang="en-US" altLang="en-US" sz="1800" b="1" i="0" u="none" strike="noStrike" cap="none" normalizeH="0" baseline="0" dirty="0">
                <a:ln>
                  <a:noFill/>
                </a:ln>
                <a:solidFill>
                  <a:schemeClr val="tx1"/>
                </a:solidFill>
                <a:effectLst/>
                <a:latin typeface="Arial" panose="020B0604020202020204" pitchFamily="34" charset="0"/>
              </a:rPr>
              <a:t>multi-layered validation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Scalability:</a:t>
            </a:r>
            <a:r>
              <a:rPr kumimoji="0" lang="en-US" altLang="en-US" sz="1800" b="0" i="0" u="none" strike="noStrike" cap="none" normalizeH="0" baseline="0" dirty="0">
                <a:ln>
                  <a:noFill/>
                </a:ln>
                <a:solidFill>
                  <a:schemeClr val="tx1"/>
                </a:solidFill>
                <a:effectLst/>
                <a:latin typeface="Arial" panose="020B0604020202020204" pitchFamily="34" charset="0"/>
              </a:rPr>
              <a:t> Can handle </a:t>
            </a:r>
            <a:r>
              <a:rPr kumimoji="0" lang="en-US" altLang="en-US" sz="1800" b="1" i="0" u="none" strike="noStrike" cap="none" normalizeH="0" baseline="0" dirty="0">
                <a:ln>
                  <a:noFill/>
                </a:ln>
                <a:solidFill>
                  <a:schemeClr val="tx1"/>
                </a:solidFill>
                <a:effectLst/>
                <a:latin typeface="Arial" panose="020B0604020202020204" pitchFamily="34" charset="0"/>
              </a:rPr>
              <a:t>complex news data</a:t>
            </a:r>
            <a:r>
              <a:rPr kumimoji="0" lang="en-US" altLang="en-US" sz="1800" b="0" i="0" u="none" strike="noStrike" cap="none" normalizeH="0" baseline="0" dirty="0">
                <a:ln>
                  <a:noFill/>
                </a:ln>
                <a:solidFill>
                  <a:schemeClr val="tx1"/>
                </a:solidFill>
                <a:effectLst/>
                <a:latin typeface="Arial" panose="020B0604020202020204" pitchFamily="34" charset="0"/>
              </a:rPr>
              <a:t> and provide insights beyond binary predictions.</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4000" b="1" i="0" u="none" strike="noStrike" cap="none" normalizeH="0" baseline="0" dirty="0">
                <a:ln>
                  <a:noFill/>
                </a:ln>
                <a:solidFill>
                  <a:schemeClr val="tx1"/>
                </a:solidFill>
                <a:effectLst/>
                <a:latin typeface="Arial" panose="020B0604020202020204" pitchFamily="34" charset="0"/>
              </a:rPr>
              <a:t>Challenges:</a:t>
            </a:r>
            <a:endParaRPr kumimoji="0" lang="en-US" altLang="en-US"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API Rate Limits:</a:t>
            </a:r>
            <a:r>
              <a:rPr kumimoji="0" lang="en-US" altLang="en-US" sz="1800" b="0" i="0" u="none" strike="noStrike" cap="none" normalizeH="0" baseline="0" dirty="0">
                <a:ln>
                  <a:noFill/>
                </a:ln>
                <a:solidFill>
                  <a:schemeClr val="tx1"/>
                </a:solidFill>
                <a:effectLst/>
                <a:latin typeface="Arial" panose="020B0604020202020204" pitchFamily="34" charset="0"/>
              </a:rPr>
              <a:t> Google API usage may be limited without a premium plan.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Dynamic Website Structures:</a:t>
            </a:r>
            <a:r>
              <a:rPr kumimoji="0" lang="en-US" altLang="en-US" sz="1800" b="0" i="0" u="none" strike="noStrike" cap="none" normalizeH="0" baseline="0" dirty="0">
                <a:ln>
                  <a:noFill/>
                </a:ln>
                <a:solidFill>
                  <a:schemeClr val="tx1"/>
                </a:solidFill>
                <a:effectLst/>
                <a:latin typeface="Arial" panose="020B0604020202020204" pitchFamily="34" charset="0"/>
              </a:rPr>
              <a:t> PolitiFact or news sites might change layouts, requiring scraper updates.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Processing Time:</a:t>
            </a:r>
            <a:r>
              <a:rPr kumimoji="0" lang="en-US" altLang="en-US" sz="1800" b="0" i="0" u="none" strike="noStrike" cap="none" normalizeH="0" baseline="0" dirty="0">
                <a:ln>
                  <a:noFill/>
                </a:ln>
                <a:solidFill>
                  <a:schemeClr val="tx1"/>
                </a:solidFill>
                <a:effectLst/>
                <a:latin typeface="Arial" panose="020B0604020202020204" pitchFamily="34" charset="0"/>
              </a:rPr>
              <a:t> Transformer models are </a:t>
            </a:r>
            <a:r>
              <a:rPr kumimoji="0" lang="en-US" altLang="en-US" sz="1800" b="1" i="0" u="none" strike="noStrike" cap="none" normalizeH="0" baseline="0" dirty="0">
                <a:ln>
                  <a:noFill/>
                </a:ln>
                <a:solidFill>
                  <a:schemeClr val="tx1"/>
                </a:solidFill>
                <a:effectLst/>
                <a:latin typeface="Arial" panose="020B0604020202020204" pitchFamily="34" charset="0"/>
              </a:rPr>
              <a:t>resource-intensive</a:t>
            </a:r>
            <a:r>
              <a:rPr kumimoji="0" lang="en-US" altLang="en-US" sz="1800" b="0" i="0" u="none" strike="noStrike" cap="none" normalizeH="0" baseline="0" dirty="0">
                <a:ln>
                  <a:noFill/>
                </a:ln>
                <a:solidFill>
                  <a:schemeClr val="tx1"/>
                </a:solidFill>
                <a:effectLst/>
                <a:latin typeface="Arial" panose="020B0604020202020204" pitchFamily="34" charset="0"/>
              </a:rPr>
              <a:t> and may require </a:t>
            </a:r>
            <a:r>
              <a:rPr kumimoji="0" lang="en-US" altLang="en-US" sz="1800" b="1" i="0" u="none" strike="noStrike" cap="none" normalizeH="0" baseline="0" dirty="0">
                <a:ln>
                  <a:noFill/>
                </a:ln>
                <a:solidFill>
                  <a:schemeClr val="tx1"/>
                </a:solidFill>
                <a:effectLst/>
                <a:latin typeface="Arial" panose="020B0604020202020204" pitchFamily="34" charset="0"/>
              </a:rPr>
              <a:t>GPU support</a:t>
            </a:r>
            <a:r>
              <a:rPr kumimoji="0" lang="en-US" altLang="en-US" sz="1800" b="0" i="0" u="none" strike="noStrike" cap="none" normalizeH="0" baseline="0" dirty="0">
                <a:ln>
                  <a:noFill/>
                </a:ln>
                <a:solidFill>
                  <a:schemeClr val="tx1"/>
                </a:solidFill>
                <a:effectLst/>
                <a:latin typeface="Arial" panose="020B0604020202020204" pitchFamily="34" charset="0"/>
              </a:rPr>
              <a:t> for faster predictions.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97106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335E3-DB5B-0772-DCB2-DF3F40CAB5FC}"/>
              </a:ext>
            </a:extLst>
          </p:cNvPr>
          <p:cNvSpPr>
            <a:spLocks noGrp="1"/>
          </p:cNvSpPr>
          <p:nvPr>
            <p:ph type="title"/>
          </p:nvPr>
        </p:nvSpPr>
        <p:spPr>
          <a:xfrm>
            <a:off x="838200" y="675322"/>
            <a:ext cx="10515600" cy="5507355"/>
          </a:xfrm>
        </p:spPr>
        <p:txBody>
          <a:bodyPr>
            <a:noAutofit/>
          </a:bodyPr>
          <a:lstStyle/>
          <a:p>
            <a:r>
              <a:rPr lang="en-IN" sz="4000" b="1" dirty="0"/>
              <a:t>Conclusion</a:t>
            </a:r>
            <a:br>
              <a:rPr lang="en-IN" sz="2400" dirty="0"/>
            </a:br>
            <a:br>
              <a:rPr lang="en-IN" sz="2400" dirty="0"/>
            </a:br>
            <a:r>
              <a:rPr lang="en-US" sz="2400" dirty="0"/>
              <a:t>By combining </a:t>
            </a:r>
            <a:r>
              <a:rPr lang="en-US" sz="2400" b="1" dirty="0"/>
              <a:t>classical and modern methods</a:t>
            </a:r>
            <a:r>
              <a:rPr lang="en-US" sz="2400" dirty="0"/>
              <a:t>, we created a </a:t>
            </a:r>
            <a:r>
              <a:rPr lang="en-US" sz="2400" b="1" dirty="0"/>
              <a:t>robust, scalable, and user-friendly fake news detection system</a:t>
            </a:r>
            <a:r>
              <a:rPr lang="en-US" sz="2400" dirty="0"/>
              <a:t>. This hybrid approach ensures that we leverage the best of both worlds—traditional machine learning’s speed and transformers' ability to handle complex content—providing reliable predictions and real-time verification.</a:t>
            </a:r>
            <a:br>
              <a:rPr lang="en-US" sz="2400" dirty="0"/>
            </a:br>
            <a:br>
              <a:rPr lang="en-US" sz="2400" dirty="0"/>
            </a:br>
            <a:r>
              <a:rPr lang="en-IN" sz="2400" b="1" dirty="0"/>
              <a:t>Future Scope:</a:t>
            </a:r>
            <a:br>
              <a:rPr lang="en-IN" sz="2400" b="1" dirty="0"/>
            </a:br>
            <a:r>
              <a:rPr lang="en-IN" sz="2400" b="1" dirty="0"/>
              <a:t>Expand the dataset</a:t>
            </a:r>
            <a:r>
              <a:rPr lang="en-IN" sz="2400" dirty="0"/>
              <a:t> to improve model performance across multiple news domains (e.g., health, sports, politics).</a:t>
            </a:r>
            <a:br>
              <a:rPr lang="en-IN" sz="2400" dirty="0"/>
            </a:br>
            <a:r>
              <a:rPr lang="en-IN" sz="2400" b="1" dirty="0"/>
              <a:t>Fine-tune </a:t>
            </a:r>
            <a:r>
              <a:rPr lang="en-IN" sz="2400" b="1" dirty="0" err="1"/>
              <a:t>RoBERTa</a:t>
            </a:r>
            <a:r>
              <a:rPr lang="en-IN" sz="2400" dirty="0"/>
              <a:t> on specific misinformation topics for even better contextual understanding.</a:t>
            </a:r>
            <a:br>
              <a:rPr lang="en-IN" sz="2400" dirty="0"/>
            </a:br>
            <a:r>
              <a:rPr lang="en-IN" sz="2400" b="1" dirty="0"/>
              <a:t>Add multilingual support</a:t>
            </a:r>
            <a:r>
              <a:rPr lang="en-IN" sz="2400" dirty="0"/>
              <a:t> to detect fake news across various languages.</a:t>
            </a:r>
            <a:br>
              <a:rPr lang="en-IN" sz="2400" dirty="0"/>
            </a:br>
            <a:r>
              <a:rPr lang="en-IN" sz="2400" b="1" dirty="0"/>
              <a:t>Develop real-time alerts</a:t>
            </a:r>
            <a:r>
              <a:rPr lang="en-IN" sz="2400" dirty="0"/>
              <a:t> for trending fake news using web scrapers and APIs.</a:t>
            </a:r>
            <a:br>
              <a:rPr lang="en-IN" sz="1050" dirty="0"/>
            </a:br>
            <a:br>
              <a:rPr lang="en-US" sz="2400" dirty="0"/>
            </a:br>
            <a:endParaRPr lang="en-IN" sz="2400" dirty="0"/>
          </a:p>
        </p:txBody>
      </p:sp>
    </p:spTree>
    <p:extLst>
      <p:ext uri="{BB962C8B-B14F-4D97-AF65-F5344CB8AC3E}">
        <p14:creationId xmlns:p14="http://schemas.microsoft.com/office/powerpoint/2010/main" val="3746281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1F98F3-17D8-8A5B-17AE-B2E72D2B1A0D}"/>
              </a:ext>
            </a:extLst>
          </p:cNvPr>
          <p:cNvSpPr>
            <a:spLocks noGrp="1"/>
          </p:cNvSpPr>
          <p:nvPr>
            <p:ph type="title"/>
          </p:nvPr>
        </p:nvSpPr>
        <p:spPr>
          <a:xfrm>
            <a:off x="804672" y="802955"/>
            <a:ext cx="4977976" cy="1454051"/>
          </a:xfrm>
        </p:spPr>
        <p:txBody>
          <a:bodyPr vert="horz" lIns="91440" tIns="45720" rIns="91440" bIns="45720" rtlCol="0" anchor="ctr">
            <a:normAutofit/>
          </a:bodyPr>
          <a:lstStyle/>
          <a:p>
            <a:r>
              <a:rPr lang="en-US" sz="3600" kern="1200" dirty="0">
                <a:solidFill>
                  <a:srgbClr val="FF0000"/>
                </a:solidFill>
                <a:latin typeface="+mj-lt"/>
                <a:ea typeface="+mj-ea"/>
                <a:cs typeface="+mj-cs"/>
              </a:rPr>
              <a:t>Other Important Details</a:t>
            </a:r>
          </a:p>
        </p:txBody>
      </p:sp>
      <p:sp>
        <p:nvSpPr>
          <p:cNvPr id="5" name="TextBox 4">
            <a:extLst>
              <a:ext uri="{FF2B5EF4-FFF2-40B4-BE49-F238E27FC236}">
                <a16:creationId xmlns:a16="http://schemas.microsoft.com/office/drawing/2014/main" id="{BA008FA8-3A1C-F963-F70F-E0A8E5664A1D}"/>
              </a:ext>
            </a:extLst>
          </p:cNvPr>
          <p:cNvSpPr txBox="1"/>
          <p:nvPr/>
        </p:nvSpPr>
        <p:spPr>
          <a:xfrm>
            <a:off x="804672" y="2421682"/>
            <a:ext cx="4977578" cy="3639289"/>
          </a:xfrm>
          <a:prstGeom prst="rect">
            <a:avLst/>
          </a:prstGeom>
        </p:spPr>
        <p:txBody>
          <a:bodyPr vert="horz" lIns="91440" tIns="45720" rIns="91440" bIns="45720" rtlCol="0" anchor="ctr">
            <a:normAutofit/>
          </a:bodyPr>
          <a:lstStyle/>
          <a:p>
            <a:pPr marL="285750" indent="-228600">
              <a:lnSpc>
                <a:spcPct val="90000"/>
              </a:lnSpc>
              <a:spcAft>
                <a:spcPts val="600"/>
              </a:spcAft>
              <a:buFont typeface="Arial" panose="020B0604020202020204" pitchFamily="34" charset="0"/>
              <a:buChar char="•"/>
            </a:pPr>
            <a:r>
              <a:rPr lang="en-US" dirty="0">
                <a:solidFill>
                  <a:schemeClr val="tx2"/>
                </a:solidFill>
              </a:rPr>
              <a:t>First 2 Slides from this presentation needs to be added in your presentation</a:t>
            </a:r>
          </a:p>
          <a:p>
            <a:pPr marL="742950" lvl="1" indent="-228600">
              <a:lnSpc>
                <a:spcPct val="90000"/>
              </a:lnSpc>
              <a:spcAft>
                <a:spcPts val="600"/>
              </a:spcAft>
              <a:buFont typeface="Arial" panose="020B0604020202020204" pitchFamily="34" charset="0"/>
              <a:buChar char="•"/>
            </a:pPr>
            <a:r>
              <a:rPr lang="en-US" dirty="0">
                <a:solidFill>
                  <a:schemeClr val="tx2"/>
                </a:solidFill>
              </a:rPr>
              <a:t>Slide 1 – Use as it is, no modification required</a:t>
            </a:r>
          </a:p>
          <a:p>
            <a:pPr marL="742950" lvl="1" indent="-228600">
              <a:lnSpc>
                <a:spcPct val="90000"/>
              </a:lnSpc>
              <a:spcAft>
                <a:spcPts val="600"/>
              </a:spcAft>
              <a:buFont typeface="Arial" panose="020B0604020202020204" pitchFamily="34" charset="0"/>
              <a:buChar char="•"/>
            </a:pPr>
            <a:r>
              <a:rPr lang="en-US" dirty="0">
                <a:solidFill>
                  <a:schemeClr val="tx2"/>
                </a:solidFill>
              </a:rPr>
              <a:t>Slide 2 – This section is to provide your personal detail</a:t>
            </a:r>
          </a:p>
          <a:p>
            <a:pPr lvl="1" indent="-228600">
              <a:lnSpc>
                <a:spcPct val="90000"/>
              </a:lnSpc>
              <a:spcAft>
                <a:spcPts val="600"/>
              </a:spcAft>
              <a:buFont typeface="Arial" panose="020B0604020202020204" pitchFamily="34" charset="0"/>
              <a:buChar char="•"/>
            </a:pPr>
            <a:endParaRPr lang="en-US" dirty="0">
              <a:solidFill>
                <a:schemeClr val="tx2"/>
              </a:solidFill>
            </a:endParaRPr>
          </a:p>
          <a:p>
            <a:pPr marL="285750" indent="-228600">
              <a:lnSpc>
                <a:spcPct val="90000"/>
              </a:lnSpc>
              <a:spcAft>
                <a:spcPts val="600"/>
              </a:spcAft>
              <a:buFont typeface="Arial" panose="020B0604020202020204" pitchFamily="34" charset="0"/>
              <a:buChar char="•"/>
            </a:pPr>
            <a:r>
              <a:rPr lang="en-US" dirty="0">
                <a:solidFill>
                  <a:schemeClr val="tx2"/>
                </a:solidFill>
              </a:rPr>
              <a:t>Collaborate your Github repo with </a:t>
            </a:r>
          </a:p>
          <a:p>
            <a:pPr marL="742950" lvl="1" indent="-228600">
              <a:lnSpc>
                <a:spcPct val="90000"/>
              </a:lnSpc>
              <a:spcAft>
                <a:spcPts val="600"/>
              </a:spcAft>
              <a:buFont typeface="Arial" panose="020B0604020202020204" pitchFamily="34" charset="0"/>
              <a:buChar char="•"/>
            </a:pPr>
            <a:r>
              <a:rPr lang="en-US" b="1" dirty="0">
                <a:solidFill>
                  <a:schemeClr val="tx2"/>
                </a:solidFill>
              </a:rPr>
              <a:t>varun41935 </a:t>
            </a:r>
          </a:p>
          <a:p>
            <a:pPr marL="742950" lvl="1" indent="-228600">
              <a:lnSpc>
                <a:spcPct val="90000"/>
              </a:lnSpc>
              <a:spcAft>
                <a:spcPts val="600"/>
              </a:spcAft>
              <a:buFont typeface="Arial" panose="020B0604020202020204" pitchFamily="34" charset="0"/>
              <a:buChar char="•"/>
            </a:pPr>
            <a:r>
              <a:rPr lang="en-US" b="1" dirty="0">
                <a:solidFill>
                  <a:schemeClr val="tx2"/>
                </a:solidFill>
              </a:rPr>
              <a:t>singhpr17</a:t>
            </a:r>
          </a:p>
          <a:p>
            <a:pPr indent="-228600">
              <a:lnSpc>
                <a:spcPct val="90000"/>
              </a:lnSpc>
              <a:spcAft>
                <a:spcPts val="600"/>
              </a:spcAft>
              <a:buFont typeface="Arial" panose="020B0604020202020204" pitchFamily="34" charset="0"/>
              <a:buChar char="•"/>
            </a:pPr>
            <a:endParaRPr lang="en-US" b="1" dirty="0">
              <a:solidFill>
                <a:schemeClr val="tx2"/>
              </a:solidFill>
            </a:endParaRPr>
          </a:p>
          <a:p>
            <a:pPr marL="285750" indent="-228600">
              <a:lnSpc>
                <a:spcPct val="90000"/>
              </a:lnSpc>
              <a:spcAft>
                <a:spcPts val="600"/>
              </a:spcAft>
              <a:buFont typeface="Arial" panose="020B0604020202020204" pitchFamily="34" charset="0"/>
              <a:buChar char="•"/>
            </a:pPr>
            <a:endParaRPr lang="en-US" b="1" dirty="0">
              <a:solidFill>
                <a:schemeClr val="tx2"/>
              </a:solidFill>
            </a:endParaRP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21" name="Freeform: Shape 20">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7" name="Graphic 16" descr="Teacher">
            <a:extLst>
              <a:ext uri="{FF2B5EF4-FFF2-40B4-BE49-F238E27FC236}">
                <a16:creationId xmlns:a16="http://schemas.microsoft.com/office/drawing/2014/main" id="{43E48664-21BA-3FAC-A7B0-BFDEAF5EE79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21726" y="1629089"/>
            <a:ext cx="3620021" cy="3620021"/>
          </a:xfrm>
          <a:prstGeom prst="rect">
            <a:avLst/>
          </a:prstGeom>
        </p:spPr>
      </p:pic>
      <p:sp>
        <p:nvSpPr>
          <p:cNvPr id="3" name="Footer Placeholder 2">
            <a:extLst>
              <a:ext uri="{FF2B5EF4-FFF2-40B4-BE49-F238E27FC236}">
                <a16:creationId xmlns:a16="http://schemas.microsoft.com/office/drawing/2014/main" id="{AF773059-6D76-34EC-92C0-E9B4AE647BC8}"/>
              </a:ext>
            </a:extLst>
          </p:cNvPr>
          <p:cNvSpPr>
            <a:spLocks noGrp="1" noRot="1" noMove="1" noResize="1" noEditPoints="1" noAdjustHandles="1" noChangeArrowheads="1" noChangeShapeType="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LNRS HACKATHON 2024</a:t>
            </a:r>
          </a:p>
        </p:txBody>
      </p:sp>
      <p:sp>
        <p:nvSpPr>
          <p:cNvPr id="4" name="Slide Number Placeholder 3">
            <a:extLst>
              <a:ext uri="{FF2B5EF4-FFF2-40B4-BE49-F238E27FC236}">
                <a16:creationId xmlns:a16="http://schemas.microsoft.com/office/drawing/2014/main" id="{5A61ECC0-0078-F39D-9264-18DB7BA594B8}"/>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4994CE7A-9BF7-418F-B3FB-B7D8B748063D}" type="slidenum">
              <a:rPr lang="en-US" smtClean="0">
                <a:solidFill>
                  <a:schemeClr val="tx1">
                    <a:tint val="75000"/>
                  </a:schemeClr>
                </a:solidFill>
              </a:rPr>
              <a:pPr>
                <a:spcAft>
                  <a:spcPts val="600"/>
                </a:spcAft>
              </a:pPr>
              <a:t>13</a:t>
            </a:fld>
            <a:endParaRPr lang="en-US">
              <a:solidFill>
                <a:schemeClr val="tx1">
                  <a:tint val="75000"/>
                </a:schemeClr>
              </a:solidFill>
            </a:endParaRPr>
          </a:p>
        </p:txBody>
      </p:sp>
      <p:pic>
        <p:nvPicPr>
          <p:cNvPr id="9" name="Picture 8" descr="A black background with red text&#10;&#10;Description automatically generated">
            <a:extLst>
              <a:ext uri="{FF2B5EF4-FFF2-40B4-BE49-F238E27FC236}">
                <a16:creationId xmlns:a16="http://schemas.microsoft.com/office/drawing/2014/main" id="{E042F15F-0B02-596D-54E8-C1629FD43A3E}"/>
              </a:ext>
            </a:extLst>
          </p:cNvPr>
          <p:cNvPicPr>
            <a:picLocks noGrp="1" noRo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333376" y="6268837"/>
            <a:ext cx="1673678" cy="392538"/>
          </a:xfrm>
          <a:prstGeom prst="rect">
            <a:avLst/>
          </a:prstGeom>
        </p:spPr>
      </p:pic>
    </p:spTree>
    <p:extLst>
      <p:ext uri="{BB962C8B-B14F-4D97-AF65-F5344CB8AC3E}">
        <p14:creationId xmlns:p14="http://schemas.microsoft.com/office/powerpoint/2010/main" val="2460354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55296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2315</TotalTime>
  <Words>1034</Words>
  <Application>Microsoft Office PowerPoint</Application>
  <PresentationFormat>Widescreen</PresentationFormat>
  <Paragraphs>52</Paragraphs>
  <Slides>14</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 Unicode MS</vt:lpstr>
      <vt:lpstr>Aptos</vt:lpstr>
      <vt:lpstr>Aptos Display</vt:lpstr>
      <vt:lpstr>Arial</vt:lpstr>
      <vt:lpstr>Calibri</vt:lpstr>
      <vt:lpstr>Source Sans Pro</vt:lpstr>
      <vt:lpstr>Source Sans Pro Light</vt:lpstr>
      <vt:lpstr>Office Theme</vt:lpstr>
      <vt:lpstr>PowerPoint Presentation</vt:lpstr>
      <vt:lpstr>ABOUT ME</vt:lpstr>
      <vt:lpstr>Title: Fake News Detection Using Machine Learning  Subtitle: A Comparison Between the Fake News and ISOT Fake News Datasets  Presented by: Ninad Khasale</vt:lpstr>
      <vt:lpstr>Introduction   What is Fake News? Fake news refers to false or misleading information presented as news. It can lead to confusion, misinformation, and has significant societal impacts.  Why is Fake News Detection Important? The rapid spread of fake news via social media and other platforms influences public opinion, undermines trust in media, and even sparks political conflicts.  Project Aim: To detect fake news using machine learning models trained on two prominent datasets: Fake News Dataset and ISOT Fake News Dataset. </vt:lpstr>
      <vt:lpstr>Datasets Used  1) LIAR Dataset 2) Fake and Real News Dataset (Kaggle) 3) BuzzFeed News Dataset 5) PolitiFact Fact-Check Dataset    Why These Datasets? These datasets offer a broad range of news articles, allowing us to train robust models for detecting misinformation.  </vt:lpstr>
      <vt:lpstr>Model Architecture and Techniques  Text Cleaning Pipeline: Lowercasing: Converts text to lowercase. Remove Special Characters: Removes non-word characters. Remove URLs: Filters out links and websites. Remove Punctuation: Strips punctuation marks. Remove HTML Tags: Cleans HTML elements (e.g., &lt;div&gt;). Remove Numbers: Eliminates numerical values. Remove Newlines: Flattens text into a single block. Optional: Removes stopwords (like "and," "the").  NLP Techniques Used: TF-IDF (Term Frequency-Inverse Document Frequency): Weighs word importance based on frequency across documents. Bag of Words (BoW): Represents text as a vector of word counts. N-grams: Extracts consecutive word combinations (e.g., bi-grams).      </vt:lpstr>
      <vt:lpstr>Models Trained:  Logistic Regression Support Vector Machine (SVM) Naive Bayes Random Forest  These methods ensure the text is clean, and feature extraction helps the model predict whether the news is real or fake.      </vt:lpstr>
      <vt:lpstr>Modern Fake News Detection Method:  Overview: This method uses state-of-the-art transformer models and API integrations to improve the accuracy and reliability of fake news detection. In addition to text analysis, it leverages Google Search and PolitiFact fact-checks for real-time verification.  Key Components: Transformer Model: Model: RoBERTa (a robustly optimized BERT variant) fine-tuned for fake news classification. How it works: Takes both the headline and content as input and provides probabilities for fake and real news. API Integrations: Google Search API: Searches for similar articles from trusted sources (e.g., BBC) based on the headline. PolitiFact Fact-Check Scraper: Fetches the latest fact-check articles for validation. </vt:lpstr>
      <vt:lpstr>NLP Techniques Used:  Tokenization: The text is broken into smaller units (tokens) using the Hugging Face tokenizer. Example: "Breaking news from NASA" → ["Breaking", "news", "from", "NASA"] Text Embedding: Converts tokens into numerical vectors that are fed into the transformer model. Softmax Layer: The model outputs probabilities for each class (Fake/Real) using the softmax function. </vt:lpstr>
      <vt:lpstr>How it Works:  Input: The user provides both the headline and content of the news.  Model Prediction: The RoBERTa model outputs probabilities for Fake News and Real News.  Search &amp; Verification: If the news is predicted as real, the app: Google Search API: Finds matching articles from reliable sources. PolitiFact Scraper: Looks for relevant fact-checks. </vt:lpstr>
      <vt:lpstr>Advantages of Modern Method:  Advanced Text Understanding: RoBERTa captures contextual meanings better than traditional models. Real-Time Verification: With Google Search and PolitiFact fact-checking, the system provides multi-layered validation. Scalability: Can handle complex news data and provide insights beyond binary predictions.  Challenges: API Rate Limits: Google API usage may be limited without a premium plan. Dynamic Website Structures: PolitiFact or news sites might change layouts, requiring scraper updates. Processing Time: Transformer models are resource-intensive and may require GPU support for faster predictions. </vt:lpstr>
      <vt:lpstr>Conclusion  By combining classical and modern methods, we created a robust, scalable, and user-friendly fake news detection system. This hybrid approach ensures that we leverage the best of both worlds—traditional machine learning’s speed and transformers' ability to handle complex content—providing reliable predictions and real-time verification.  Future Scope: Expand the dataset to improve model performance across multiple news domains (e.g., health, sports, politics). Fine-tune RoBERTa on specific misinformation topics for even better contextual understanding. Add multilingual support to detect fake news across various languages. Develop real-time alerts for trending fake news using web scrapers and APIs.  </vt:lpstr>
      <vt:lpstr>Other Important Details</vt:lpstr>
      <vt:lpstr>PowerPoint Presentation</vt:lpstr>
    </vt:vector>
  </TitlesOfParts>
  <Company>LexisNexis Risk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Singh, Pradeep (RIS-MUM)</dc:creator>
  <cp:lastModifiedBy>NINAD KHASALE - 70092100098</cp:lastModifiedBy>
  <cp:revision>4</cp:revision>
  <dcterms:created xsi:type="dcterms:W3CDTF">2024-09-26T03:48:01Z</dcterms:created>
  <dcterms:modified xsi:type="dcterms:W3CDTF">2024-10-17T07:18:26Z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49ac42a-3eb4-4074-b885-aea26bd6241e_Enabled">
    <vt:lpwstr>true</vt:lpwstr>
  </property>
  <property fmtid="{D5CDD505-2E9C-101B-9397-08002B2CF9AE}" pid="3" name="MSIP_Label_549ac42a-3eb4-4074-b885-aea26bd6241e_SetDate">
    <vt:lpwstr>2024-09-26T03:57:11Z</vt:lpwstr>
  </property>
  <property fmtid="{D5CDD505-2E9C-101B-9397-08002B2CF9AE}" pid="4" name="MSIP_Label_549ac42a-3eb4-4074-b885-aea26bd6241e_Method">
    <vt:lpwstr>Standard</vt:lpwstr>
  </property>
  <property fmtid="{D5CDD505-2E9C-101B-9397-08002B2CF9AE}" pid="5" name="MSIP_Label_549ac42a-3eb4-4074-b885-aea26bd6241e_Name">
    <vt:lpwstr>General Business</vt:lpwstr>
  </property>
  <property fmtid="{D5CDD505-2E9C-101B-9397-08002B2CF9AE}" pid="6" name="MSIP_Label_549ac42a-3eb4-4074-b885-aea26bd6241e_SiteId">
    <vt:lpwstr>9274ee3f-9425-4109-a27f-9fb15c10675d</vt:lpwstr>
  </property>
  <property fmtid="{D5CDD505-2E9C-101B-9397-08002B2CF9AE}" pid="7" name="MSIP_Label_549ac42a-3eb4-4074-b885-aea26bd6241e_ActionId">
    <vt:lpwstr>bbec7d46-2413-4c8e-866f-cc05bda192ab</vt:lpwstr>
  </property>
  <property fmtid="{D5CDD505-2E9C-101B-9397-08002B2CF9AE}" pid="8" name="MSIP_Label_549ac42a-3eb4-4074-b885-aea26bd6241e_ContentBits">
    <vt:lpwstr>0</vt:lpwstr>
  </property>
</Properties>
</file>